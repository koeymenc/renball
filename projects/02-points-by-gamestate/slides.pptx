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RESEARCH ·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E8EFE8"/>
                </a:solidFill>
                <a:latin typeface="Instrument Serif"/>
              </a:rPr>
              <a:t>Not All Goals Are </a:t>
            </a:r>
            <a:r>
              <a:rPr sz="5400" b="0" i="1">
                <a:solidFill>
                  <a:srgbClr val="C1FF72"/>
                </a:solidFill>
                <a:latin typeface="Instrument Serif"/>
              </a:rPr>
              <a:t>Equal</a:t>
            </a:r>
            <a:r>
              <a:rPr sz="5400" b="0" i="0">
                <a:solidFill>
                  <a:srgbClr val="E8EFE8"/>
                </a:solidFill>
                <a:latin typeface="Instrument Serif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A TIME-AWARE EXPECTED-POINTS MODEL · TOP 5 LEAGUES + EREDIVISIE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OCTOBER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623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Three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99032"/>
            <a:ext cx="8503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Price every goal by the state it creates minus the state it ends, from 2,377,080 team-minutes in 13,206 matches.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CLOCK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62072"/>
            <a:ext cx="8503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A go-ahead goal from level is worth 1.51 EP in the last 15, 2.05× the first 15 (95% CI 1.94–2.18). Level late, the upside is 1.58×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PLAYERS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325112"/>
            <a:ext cx="8503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No "clutch" signal: only 17 of 1,090 players scored at clearly better-than-average times, fewer than chance.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Every goal counts as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one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. Should 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E8EFE8"/>
                </a:solidFill>
                <a:latin typeface="Instrument Serif"/>
              </a:rPr>
              <a:t>An early opener, a late winner and a consolation at 4–0 down all add one to the scoreboard.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53035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first nudges the odds. The second nearly settles them. The third changes almost nothing. A goal's worth depends on the scoreline it changes and on how much time is left to change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56032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So price it: the expected final points of the scoring team just after the goal, minus just before it. A late equaliser is worth 0.96 EP; a late second goal at 1–0 only 0.31.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Six leagues, seven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seasons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C1FF72"/>
                </a:solidFill>
                <a:latin typeface="Instrument Serif"/>
              </a:rPr>
              <a:t>39,403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GOALS PRICED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661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C1FF72"/>
                </a:solidFill>
                <a:latin typeface="Instrument Serif"/>
              </a:rPr>
              <a:t>14,360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MATCHES LOADED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C1FF72"/>
                </a:solidFill>
                <a:latin typeface="Instrument Serif"/>
              </a:rPr>
              <a:t>13,206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MATCHES IN THE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525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C1FF72"/>
                </a:solidFill>
                <a:latin typeface="Instrument Serif"/>
              </a:rPr>
              <a:t>2,377,080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TEAM-MINUTES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46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FBref match pages, 2017-2018 to 2023-2024: Premier League, La Liga, Serie A, Bundesliga, Ligue 1, Eredivisie. Shot tables, official scores, per-match minutes and ages.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86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Own goals are missing from the shot table: in 1,154 matches (8.0%) the rebuilt score falls short of the official one. They are left out of the value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262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307 of 2,068 Eredivisie matches have no usable data.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Two tables, one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subtraction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721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STATE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What a scoreline is 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Every minute a team spent at a goal difference in a 15-minute window, averaged over the points those teams finished with (3 · win + 1 · draw). 0–0s and goalless spells count.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780" y="1463040"/>
            <a:ext cx="53721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693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GOAL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93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What a goal is worth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The state the goal creates minus the state it ends, in the same window. Time-blind version: the same with all minutes pooled.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Intervals: 1,000 bootstrap resamples of whole matches within each league · fixed seed · cells seen in fewer than 30 matches flagged sparse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STATE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each scoreline is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worth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" y="1463040"/>
            <a:ext cx="108585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Expected final points by goal difference and window. One up: 2.10 early, 2.66 late. Level: 1.37 → 1.15.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GOAL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value of a goal, by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minute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" y="1463040"/>
            <a:ext cx="108585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State after minus state before. Brightest: 0→1 in the last 15 (1.51 EP, 2,113 goals). Leads stretched late are worth little.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opener: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2.05×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late vs early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0056"/>
            <a:ext cx="10972800" cy="428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0→1: 0.73 EP in the first 15, 1.51 in the last 15 (ratio 95% CI 1.94–2.18). Late equaliser 0.96 EP. Whiskers: 95% intervals.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GAME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Next goal: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upside ÷ downside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97280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516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8368" y="1463040"/>
            <a:ext cx="13026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0-15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2453" y="1463040"/>
            <a:ext cx="13026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15-30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6539" y="1463040"/>
            <a:ext cx="13026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30-45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30624" y="1463040"/>
            <a:ext cx="13026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45-60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4709" y="1463040"/>
            <a:ext cx="13026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60-75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18794" y="1463040"/>
            <a:ext cx="130264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75-90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1874520"/>
            <a:ext cx="1097280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" y="1920240"/>
            <a:ext cx="2516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Leading by 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8368" y="192024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0.74×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2453" y="192024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0.68×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6539" y="192024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0.69×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0624" y="192024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0.53×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4709" y="192024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0.40×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18794" y="192024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0.20×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423160"/>
            <a:ext cx="2516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   for / against (EP)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8368" y="242316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0.54 / 0.73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2453" y="242316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0.54 / 0.78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6539" y="242316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0.58 / 0.84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0624" y="242316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0.53 / 0.99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4709" y="242316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0.47 / 1.18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18794" y="242316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0.31 / 1.51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2926080"/>
            <a:ext cx="2516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Level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8368" y="292608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1.08×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2453" y="292608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1.12×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6539" y="292608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1.16×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0624" y="292608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1.23×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4709" y="292608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1.35×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18794" y="292608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1.58×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429000"/>
            <a:ext cx="2516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   for / against (EP)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8368" y="342900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0.73 / 0.68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42453" y="342900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0.78 / 0.70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6539" y="342900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0.84 / 0.72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30624" y="342900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0.99 / 0.81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24709" y="342900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1.18 / 0.88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8794" y="342900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1.51 / 0.96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931920"/>
            <a:ext cx="2516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Trailing by one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48368" y="393192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1.56×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42453" y="393192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1.63×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6539" y="393192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1.65×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30624" y="393192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2.15×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24709" y="393192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2.90×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18794" y="393192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5.39×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434840"/>
            <a:ext cx="2516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   for / against (EP)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48368" y="443484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0.68 / 0.44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42453" y="443484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0.70 / 0.43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6539" y="443484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0.72 / 0.44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30624" y="443484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0.81 / 0.37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24709" y="443484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0.88 / 0.30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18794" y="4434840"/>
            <a:ext cx="13026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0.96 / 0.18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Value of scoring the next goal ÷ cost of conceding it. Level in the last 15: a goal for is worth 1.51 EP, a goal against costs 0.96: 1.58× (95% CI 1.56–1.60). Prices, not a test of tactics.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BY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Where the points get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cashed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0056"/>
            <a:ext cx="10972800" cy="428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Every goal at its own value. Last 15 vs first 15: 1.64× (95% CI 1.54–1.76): 8,238 goals against 4,596.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OUT OF SAMPLE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It predicts seasons it never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saw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5486400" cy="4343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63040"/>
            <a:ext cx="5394960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Fit on 2017-2018 to 2021-2022; predict 3,838 matches in 2022-2023 and 2023-2024. Brier 0.481 vs 0.496 time-blind; largest calibration gap 0.05 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Does it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hold up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97280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3877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9260" y="1463040"/>
            <a:ext cx="13359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MATCHES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46616" y="1463040"/>
            <a:ext cx="1514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OPENER 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2392" y="1463040"/>
            <a:ext cx="1514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OPENER EARLY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8167" y="1463040"/>
            <a:ext cx="11574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07104" y="1463040"/>
            <a:ext cx="1514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95% 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874520"/>
            <a:ext cx="1097280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1920240"/>
            <a:ext cx="33877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EFE8"/>
                </a:solidFill>
                <a:latin typeface="DM Sans"/>
              </a:rPr>
              <a:t>Primary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9260" y="1920240"/>
            <a:ext cx="133591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C1FF72"/>
                </a:solidFill>
                <a:latin typeface="JetBrains Mono"/>
              </a:rPr>
              <a:t>13,206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46616" y="1920240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C1FF72"/>
                </a:solidFill>
                <a:latin typeface="JetBrains Mono"/>
              </a:rPr>
              <a:t>1.51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2392" y="1920240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C1FF72"/>
                </a:solidFill>
                <a:latin typeface="JetBrains Mono"/>
              </a:rPr>
              <a:t>0.73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8167" y="1920240"/>
            <a:ext cx="115749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C1FF72"/>
                </a:solidFill>
                <a:latin typeface="JetBrains Mono"/>
              </a:rPr>
              <a:t>2.05×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07104" y="1920240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 i="0">
                <a:solidFill>
                  <a:srgbClr val="C1FF72"/>
                </a:solidFill>
                <a:latin typeface="JetBrains Mono"/>
              </a:rPr>
              <a:t>1.94–2.18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308860"/>
            <a:ext cx="33877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Own-goal matches put 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9260" y="2308860"/>
            <a:ext cx="133591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14,360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6616" y="2308860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1.44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2392" y="2308860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58167" y="2308860"/>
            <a:ext cx="115749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2.03×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07104" y="2308860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n/a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2697479"/>
            <a:ext cx="33877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Fit on 2017-18 to 2021-22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9260" y="2697479"/>
            <a:ext cx="133591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9,368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46616" y="269747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2392" y="269747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58167" y="2697479"/>
            <a:ext cx="115749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2.04×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07104" y="269747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n/a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086099"/>
            <a:ext cx="33877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Fit on 2022-23 to 2023-24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9260" y="3086099"/>
            <a:ext cx="133591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3,838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46616" y="308609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52392" y="308609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58167" y="3086099"/>
            <a:ext cx="115749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2.09×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07104" y="308609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n/a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3474719"/>
            <a:ext cx="33877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Premier League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9260" y="3474719"/>
            <a:ext cx="133591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2,407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46616" y="347471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1.52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2392" y="347471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58167" y="3474719"/>
            <a:ext cx="115749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2.11×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07104" y="347471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1.82–2.47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3863339"/>
            <a:ext cx="33877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La Liga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9260" y="3863339"/>
            <a:ext cx="133591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2,476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46616" y="386333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1.52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52392" y="386333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8167" y="3863339"/>
            <a:ext cx="115749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2.31×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07104" y="386333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1.98–2.77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251959"/>
            <a:ext cx="33877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Serie 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9260" y="4251959"/>
            <a:ext cx="133591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46616" y="425195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52392" y="425195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58167" y="4251959"/>
            <a:ext cx="115749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1.90×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07104" y="425195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1.67–2.21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4640579"/>
            <a:ext cx="33877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Bundesliga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9260" y="4640579"/>
            <a:ext cx="133591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1,972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46616" y="464057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2392" y="464057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0.81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58167" y="4640579"/>
            <a:ext cx="115749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1.85×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07104" y="464057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1.65–2.12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5029199"/>
            <a:ext cx="33877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Ligue 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19260" y="5029199"/>
            <a:ext cx="133591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2,286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46616" y="502919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52392" y="502919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58167" y="5029199"/>
            <a:ext cx="115749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2.11×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07104" y="502919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1.85–2.47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417819"/>
            <a:ext cx="33877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Eredivisie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19260" y="5417819"/>
            <a:ext cx="133591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1,625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546616" y="541781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1.48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52392" y="541781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0.70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58167" y="5417819"/>
            <a:ext cx="1157496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2.11×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07104" y="5417819"/>
            <a:ext cx="151433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1.78–2.59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Late vs early go-ahead goal from level. League range 1.85× to 2.31×; league differences inside it not tested.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EP COLLECTED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Top 10: a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statistical tie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at the 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79" y="1463040"/>
            <a:ext cx="106172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Top five within 2.66 EP, intervals overlapping. Goals + SCA1, once per player per goal. Bars: 95% intervals.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TIMING PREMIUM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Clutch? Not beyond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chance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79" y="1463040"/>
            <a:ext cx="106172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Only 17 of 1,090 players (20+ involvements) clearly above zero; chance alone gives ~27.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EP per 90: hot streaks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float up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79" y="1463040"/>
            <a:ext cx="10617200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At least 900 minutes. 4 of the top ten played under 3,000 minutes; their intervals are the widest.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Who should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57276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Coaches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TRAINING &amp; TACTICS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96596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68680" y="2112263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960120" y="2171699"/>
            <a:ext cx="45720" cy="100584"/>
          </a:xfrm>
          <a:prstGeom prst="rect">
            <a:avLst/>
          </a:prstGeom>
          <a:solidFill>
            <a:srgbClr val="5A7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8700" y="2171699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097280" y="2171699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34440" y="2112263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EXPLORATORY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103120"/>
            <a:ext cx="361188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DM Sans"/>
              </a:rPr>
              <a:t>The last 15 minutes deliver 1.64× the expected points of the first 15: more goals, higher stakes.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2674620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36,201 goals · 95% CI 1.54–1.76× · training implication untested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46304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157276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Managers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16459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MATCH-DAY DECISIONS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196596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446520" y="2112263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8FBF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537960" y="2171699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606540" y="2171699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675120" y="2171699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12280" y="2112263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1FF72"/>
                </a:solidFill>
                <a:latin typeface="JetBrains Mono"/>
              </a:rPr>
              <a:t>MODERATE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103120"/>
            <a:ext cx="3611880" cy="500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A68F"/>
                </a:solidFill>
                <a:latin typeface="DM Sans"/>
              </a:rPr>
              <a:t>Level after 75': a goal for is worth 1.51 EP, a goal against costs 0.96. The upside is 1.58× the downside.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603182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95% CI 1.56–1.60× · all 6 leagues · prices outcomes, not tactics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2923222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8FBF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537960" y="2982658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606540" y="2982658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675120" y="2982658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812280" y="292322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1FF72"/>
                </a:solidFill>
                <a:latin typeface="JetBrains Mono"/>
              </a:rPr>
              <a:t>MODERATE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2914078"/>
            <a:ext cx="3611880" cy="333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A68F"/>
                </a:solidFill>
                <a:latin typeface="DM Sans"/>
              </a:rPr>
              <a:t>1–0 up after 75': conceding costs 1.51 EP, a second goal adds only 0.31.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247453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ratio 95% CI 0.19–0.22 · values, not the effect of sitting deeper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72618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68680" y="383590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Clubs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7560" y="39090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RECRUITMENT &amp; CONTRACTS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422910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868680" y="4375404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8FBF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960120" y="4434840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1028700" y="4434840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1097280" y="4434840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234440" y="437540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1FF72"/>
                </a:solidFill>
                <a:latin typeface="JetBrains Mono"/>
              </a:rP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94560" y="4366260"/>
            <a:ext cx="361188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DM Sans"/>
              </a:rPr>
              <a:t>Don't pay for 'clutch': only 17 of 1,090 players scored at clearly better-than-average times, fewer than chance (~27).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0" y="4937760"/>
            <a:ext cx="3611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20+ goal involvements · bootstrap intervals · repeatability not tested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3726180"/>
            <a:ext cx="5394960" cy="208026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446520" y="3835908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E8EFE8"/>
                </a:solidFill>
                <a:latin typeface="Instrument Serif"/>
              </a:rPr>
              <a:t>Agents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39090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5A735A"/>
                </a:solidFill>
                <a:latin typeface="JetBrains Mono"/>
              </a:rPr>
              <a:t>POSITIONING A PLAYER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46520" y="4229100"/>
            <a:ext cx="4937760" cy="9525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446520" y="43662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735A"/>
                </a:solidFill>
                <a:latin typeface="DM Sans"/>
              </a:rPr>
              <a:t>No defensible claim for this audience from this study.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97103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EVIDENCE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37360" y="5943600"/>
            <a:ext cx="1188720" cy="219456"/>
          </a:xfrm>
          <a:prstGeom prst="rect">
            <a:avLst/>
          </a:prstGeom>
          <a:solidFill>
            <a:srgbClr val="C1FF72"/>
          </a:solidFill>
          <a:ln w="9525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1828800" y="6003036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1897380" y="6003036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1965960" y="6003036"/>
            <a:ext cx="45720" cy="100584"/>
          </a:xfrm>
          <a:prstGeom prst="rect">
            <a:avLst/>
          </a:prstGeom>
          <a:solidFill>
            <a:srgbClr val="080C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2103120" y="59436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080C08"/>
                </a:solidFill>
                <a:latin typeface="JetBrains Mono"/>
              </a:rPr>
              <a:t>STRONG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108960" y="5943600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8FBF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3200400" y="6003036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3268980" y="6003036"/>
            <a:ext cx="45720" cy="100584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3337560" y="6003036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3474720" y="59436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C1FF72"/>
                </a:solidFill>
                <a:latin typeface="JetBrains Mono"/>
              </a:rPr>
              <a:t>MODERATE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80560" y="5943600"/>
            <a:ext cx="1188720" cy="219456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4572000" y="6003036"/>
            <a:ext cx="45720" cy="100584"/>
          </a:xfrm>
          <a:prstGeom prst="rect">
            <a:avLst/>
          </a:prstGeom>
          <a:solidFill>
            <a:srgbClr val="5A7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4640580" y="6003036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4709160" y="6003036"/>
            <a:ext cx="45720" cy="100584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846320" y="594360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5A735A"/>
                </a:solidFill>
                <a:latin typeface="JetBrains Mono"/>
              </a:rPr>
              <a:t>EXPLORATORY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00" y="5971032"/>
            <a:ext cx="5760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Definitions: methodology § Evidence labels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can't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tell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16184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5087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Prices, not causes: a goal's value is measured on what teams went on to do, not isolated from red cards or subs.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328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No team strength: a 1–0 lead is priced the same for favourite and underdog.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4472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51560" y="3337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Own goals: 1,154 matches left out of the model; including them moves the headline from 2.05× to 2.03×.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616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51560" y="42519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Every goal counts as one (no xG); "assist" is FBref's SCA1; 15-minute windows.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276088"/>
            <a:ext cx="82296" cy="82296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51560" y="5166359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Timing premiums and per-90 rates are not tested for repeatability.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this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clock changes the price.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Clutch doesn't.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 same go-ahead goal from level is worth 2.05× as much in the last 15 minutes as in the first, in every league and in seasons the model never saw. That makes the table usable for game management: level late, a goal for is worth 1.58× what a goal against costs. It doesn't single out clutch players: compared with the same scorelines at average times, almost nobody's timing stands out from chance.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E8EFE8"/>
                </a:solidFill>
                <a:latin typeface="Instrument Serif"/>
              </a:rPr>
              <a:t>Thanks for reading.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Full methodology, source code and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C1FF72"/>
                </a:solidFill>
                <a:latin typeface="Instrument Serif"/>
              </a:rPr>
              <a:t>renball.com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/PROJECTS/02-POINTS-BY-GAMESTATE/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methodology      the model, the bootstrap, the held-out test,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3400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dashboard        every player, state and goal value by league and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3024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code/            matches.py · value_model.py · build.py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