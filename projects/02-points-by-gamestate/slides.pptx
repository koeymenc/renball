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RESEARCH ·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E8EFE8"/>
                </a:solidFill>
                <a:latin typeface="Instrument Serif"/>
              </a:rPr>
              <a:t>Not All Goals Are </a:t>
            </a:r>
            <a:r>
              <a:rPr sz="5400" b="0" i="1">
                <a:solidFill>
                  <a:srgbClr val="C1FF72"/>
                </a:solidFill>
                <a:latin typeface="Instrument Serif"/>
              </a:rPr>
              <a:t>Equal</a:t>
            </a:r>
            <a:r>
              <a:rPr sz="5400" b="0" i="0">
                <a:solidFill>
                  <a:srgbClr val="E8EFE8"/>
                </a:solidFill>
                <a:latin typeface="Instrument Serif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A TIME-AWARE EXPECTED-POINTS MODEL · TOP 5 LEAGUES + EREDIVISIE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2026·05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623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TL;DR — three 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A goal that takes a team from 0–0 to 1–0 in the final fifteen minutes is worth 1.68 expected points — 2.1× the same transition in the opening fifteen.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Across 39,381 goals in six leagues and seven seasons we observed 82 of 90 theoretical (gd × minute_bin) states.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model's biggest gainer over the time-blind baseline is Mário Rui (+3.43 ΔEP on 28 G+A) — a late-equaliser specialist the scoreboard underrates.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Are all goals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equal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E8EFE8"/>
                </a:solidFill>
                <a:latin typeface="Instrument Serif"/>
              </a:rPr>
              <a:t>Three goals, three different lengths of game ahead. Should we treat them the same?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EARLY OPENER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377440"/>
            <a:ext cx="8229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0–0 to 1–0 in the 5th minute. 85 minutes still to play, everyone resets.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LATE EQUALISER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063240"/>
            <a:ext cx="8229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1–2 to 2–2 in the 88th minute. Pulls a point out of a lost match.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CONSOLATION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749040"/>
            <a:ext cx="8229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4–0 down, you score in stoppage. Doesn't move the table.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C1FF72"/>
                </a:solidFill>
                <a:latin typeface="DM Sans"/>
              </a:rPr>
              <a:t>→ The standard scoreboard treats them the same. We won't.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we built the framework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39,381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GOALS ANALYZED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661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LEAGUES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SEASONS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5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MODELLED STATES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Seasons in scope: 2017-2018 → 2023-2024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03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Leagues: Bundesliga, Eredivisie, La-Liga, Ligue-1, Premier-League, Serie-A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Source: FBref-derived shot tables, one pickle per league (match_data_final_&lt;league&gt;.pkl).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Variables: scoring team, outcome=goal, goalscorer, SCA1 (assist), minute (parsed including stoppage suffixes).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VALUE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How a goal gets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priced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For every pre-goal state (goal_difference, minute_bin) we compute the empirical expected points.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0972800" cy="1143000"/>
          </a:xfrm>
          <a:prstGeom prst="rect">
            <a:avLst/>
          </a:prstGeom>
          <a:solidFill>
            <a:srgbClr val="111A11"/>
          </a:solidFill>
          <a:ln w="1524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1FF72"/>
                </a:solidFill>
                <a:latin typeface="JetBrains Mono"/>
              </a:rPr>
              <a:t>EP(gd, minute_bin)  =  3 · P(W | state)  +  1 · P(D | state)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735A"/>
                </a:solidFill>
                <a:latin typeface="JetBrains Mono"/>
              </a:rPr>
              <a:t>Mean of final-match points over every team that entered this (gd, bin) 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A goal's value is the difference between the two states it connects: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60"/>
            <a:ext cx="10972800" cy="91440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4005072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E8EFE8"/>
                </a:solidFill>
                <a:latin typeface="JetBrains Mono"/>
              </a:rPr>
              <a:t>ep_collected  =  EP(gd_after, bin)  −  EP(gd_before, bin)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STATE VALUE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Expected final points at each (GD, minute)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417320" y="146304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Rectangle 6"/>
          <p:cNvSpPr/>
          <p:nvPr/>
        </p:nvSpPr>
        <p:spPr>
          <a:xfrm>
            <a:off x="2880360" y="1463040"/>
            <a:ext cx="132588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880360" y="15087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8FA68F"/>
                </a:solidFill>
                <a:latin typeface="JetBrains Mono"/>
              </a:rPr>
              <a:t>0-15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463040"/>
            <a:ext cx="132588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06240" y="15087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8FA68F"/>
                </a:solidFill>
                <a:latin typeface="JetBrains Mono"/>
              </a:rPr>
              <a:t>15-30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32120" y="1463040"/>
            <a:ext cx="132588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532120" y="15087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8FA68F"/>
                </a:solidFill>
                <a:latin typeface="JetBrains Mono"/>
              </a:rPr>
              <a:t>30-45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463040"/>
            <a:ext cx="132588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0" y="15087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8FA68F"/>
                </a:solidFill>
                <a:latin typeface="JetBrains Mono"/>
              </a:rPr>
              <a:t>45-60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463040"/>
            <a:ext cx="132588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83879" y="15087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8FA68F"/>
                </a:solidFill>
                <a:latin typeface="JetBrains Mono"/>
              </a:rPr>
              <a:t>60-75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463040"/>
            <a:ext cx="132588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0" y="150876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8FA68F"/>
                </a:solidFill>
                <a:latin typeface="JetBrains Mono"/>
              </a:rPr>
              <a:t>75-90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17320" y="187452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63040" y="192938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−4 TO −3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80360" y="1874520"/>
            <a:ext cx="1325880" cy="411480"/>
          </a:xfrm>
          <a:prstGeom prst="rect">
            <a:avLst/>
          </a:prstGeom>
          <a:solidFill>
            <a:srgbClr val="111A11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206240" y="187452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06240" y="19110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187452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532120" y="19110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1874520"/>
            <a:ext cx="1325880" cy="411480"/>
          </a:xfrm>
          <a:prstGeom prst="rect">
            <a:avLst/>
          </a:prstGeom>
          <a:solidFill>
            <a:srgbClr val="2331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19110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9" y="187452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183879" y="19110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0" y="187452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509760" y="19110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17320" y="228600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463040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−3 TO −2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0360" y="228600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2880360" y="23225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40" y="228600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206240" y="23225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32120" y="2286000"/>
            <a:ext cx="1325880" cy="411480"/>
          </a:xfrm>
          <a:prstGeom prst="rect">
            <a:avLst/>
          </a:prstGeom>
          <a:solidFill>
            <a:srgbClr val="23321B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532120" y="23225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0" y="2286000"/>
            <a:ext cx="1325880" cy="411480"/>
          </a:xfrm>
          <a:prstGeom prst="rect">
            <a:avLst/>
          </a:prstGeom>
          <a:solidFill>
            <a:srgbClr val="24321B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858000" y="23225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83879" y="2286000"/>
            <a:ext cx="1325880" cy="411480"/>
          </a:xfrm>
          <a:prstGeom prst="rect">
            <a:avLst/>
          </a:prstGeom>
          <a:solidFill>
            <a:srgbClr val="23321B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183879" y="23225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760" y="2286000"/>
            <a:ext cx="1325880" cy="411480"/>
          </a:xfrm>
          <a:prstGeom prst="rect">
            <a:avLst/>
          </a:prstGeom>
          <a:solidFill>
            <a:srgbClr val="22301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509760" y="23225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17320" y="269748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463040" y="27523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−2 TO −1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2697480"/>
            <a:ext cx="1325880" cy="411480"/>
          </a:xfrm>
          <a:prstGeom prst="rect">
            <a:avLst/>
          </a:prstGeom>
          <a:solidFill>
            <a:srgbClr val="2E4021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2880360" y="27340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0.38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2697480"/>
            <a:ext cx="1325880" cy="411480"/>
          </a:xfrm>
          <a:prstGeom prst="rect">
            <a:avLst/>
          </a:prstGeom>
          <a:solidFill>
            <a:srgbClr val="2D3E2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206240" y="27340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0.33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32120" y="2697480"/>
            <a:ext cx="1325880" cy="411480"/>
          </a:xfrm>
          <a:prstGeom prst="rect">
            <a:avLst/>
          </a:prstGeom>
          <a:solidFill>
            <a:srgbClr val="2A3A1E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532120" y="27340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58000" y="2697480"/>
            <a:ext cx="1325880" cy="411480"/>
          </a:xfrm>
          <a:prstGeom prst="rect">
            <a:avLst/>
          </a:prstGeom>
          <a:solidFill>
            <a:srgbClr val="29391E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858000" y="27340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0.21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83879" y="2697480"/>
            <a:ext cx="1325880" cy="411480"/>
          </a:xfrm>
          <a:prstGeom prst="rect">
            <a:avLst/>
          </a:prstGeom>
          <a:solidFill>
            <a:srgbClr val="28381D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183879" y="27340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0.18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09760" y="2697480"/>
            <a:ext cx="1325880" cy="411480"/>
          </a:xfrm>
          <a:prstGeom prst="rect">
            <a:avLst/>
          </a:prstGeom>
          <a:solidFill>
            <a:srgbClr val="24331B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509760" y="27340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0.07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17320" y="310896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463040" y="31638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−1 TO 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80360" y="3108960"/>
            <a:ext cx="1325880" cy="411480"/>
          </a:xfrm>
          <a:prstGeom prst="rect">
            <a:avLst/>
          </a:prstGeom>
          <a:solidFill>
            <a:srgbClr val="3A5028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880360" y="31455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0.75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06240" y="3108960"/>
            <a:ext cx="1325880" cy="411480"/>
          </a:xfrm>
          <a:prstGeom prst="rect">
            <a:avLst/>
          </a:prstGeom>
          <a:solidFill>
            <a:srgbClr val="3A5028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4206240" y="31455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0.75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32120" y="3108960"/>
            <a:ext cx="1325880" cy="411480"/>
          </a:xfrm>
          <a:prstGeom prst="rect">
            <a:avLst/>
          </a:prstGeom>
          <a:solidFill>
            <a:srgbClr val="3A4F27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5532120" y="31455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58000" y="3108960"/>
            <a:ext cx="1325880" cy="411480"/>
          </a:xfrm>
          <a:prstGeom prst="rect">
            <a:avLst/>
          </a:prstGeom>
          <a:solidFill>
            <a:srgbClr val="394E27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858000" y="31455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0.70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83879" y="3108960"/>
            <a:ext cx="1325880" cy="411480"/>
          </a:xfrm>
          <a:prstGeom prst="rect">
            <a:avLst/>
          </a:prstGeom>
          <a:solidFill>
            <a:srgbClr val="374B26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8183879" y="31455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0.64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09760" y="3108960"/>
            <a:ext cx="1325880" cy="411480"/>
          </a:xfrm>
          <a:prstGeom prst="rect">
            <a:avLst/>
          </a:prstGeom>
          <a:solidFill>
            <a:srgbClr val="344824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509760" y="31455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0.56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17320" y="352044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463040" y="357530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0 TO +1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80360" y="3520440"/>
            <a:ext cx="1325880" cy="411480"/>
          </a:xfrm>
          <a:prstGeom prst="rect">
            <a:avLst/>
          </a:prstGeom>
          <a:solidFill>
            <a:srgbClr val="4F6B33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2880360" y="355701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1.40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06240" y="3520440"/>
            <a:ext cx="1325880" cy="411480"/>
          </a:xfrm>
          <a:prstGeom prst="rect">
            <a:avLst/>
          </a:prstGeom>
          <a:solidFill>
            <a:srgbClr val="4F6B33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4206240" y="355701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1.40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532120" y="3520440"/>
            <a:ext cx="1325880" cy="411480"/>
          </a:xfrm>
          <a:prstGeom prst="rect">
            <a:avLst/>
          </a:prstGeom>
          <a:solidFill>
            <a:srgbClr val="4F6B33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5532120" y="355701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1.39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58000" y="3520440"/>
            <a:ext cx="1325880" cy="411480"/>
          </a:xfrm>
          <a:prstGeom prst="rect">
            <a:avLst/>
          </a:prstGeom>
          <a:solidFill>
            <a:srgbClr val="4F6B33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6858000" y="355701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1.40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183879" y="3520440"/>
            <a:ext cx="1325880" cy="411480"/>
          </a:xfrm>
          <a:prstGeom prst="rect">
            <a:avLst/>
          </a:prstGeom>
          <a:solidFill>
            <a:srgbClr val="4F6B33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183879" y="355701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1.41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09760" y="3520440"/>
            <a:ext cx="1325880" cy="411480"/>
          </a:xfrm>
          <a:prstGeom prst="rect">
            <a:avLst/>
          </a:prstGeom>
          <a:solidFill>
            <a:srgbClr val="516E34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9509760" y="355701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1.46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417320" y="393192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463040" y="398678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+1 TO +2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880360" y="3931920"/>
            <a:ext cx="1325880" cy="411480"/>
          </a:xfrm>
          <a:prstGeom prst="rect">
            <a:avLst/>
          </a:prstGeom>
          <a:solidFill>
            <a:srgbClr val="65873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2880360" y="39684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2.07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06240" y="3931920"/>
            <a:ext cx="1325880" cy="411480"/>
          </a:xfrm>
          <a:prstGeom prst="rect">
            <a:avLst/>
          </a:prstGeom>
          <a:solidFill>
            <a:srgbClr val="65873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4206240" y="39684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2.07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532120" y="3931920"/>
            <a:ext cx="1325880" cy="411480"/>
          </a:xfrm>
          <a:prstGeom prst="rect">
            <a:avLst/>
          </a:prstGeom>
          <a:solidFill>
            <a:srgbClr val="65873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5532120" y="39684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2.07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858000" y="3931920"/>
            <a:ext cx="1325880" cy="411480"/>
          </a:xfrm>
          <a:prstGeom prst="rect">
            <a:avLst/>
          </a:prstGeom>
          <a:solidFill>
            <a:srgbClr val="65883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858000" y="39684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2.08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83879" y="3931920"/>
            <a:ext cx="1325880" cy="411480"/>
          </a:xfrm>
          <a:prstGeom prst="rect">
            <a:avLst/>
          </a:prstGeom>
          <a:solidFill>
            <a:srgbClr val="66894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8183879" y="39684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2.10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09760" y="3931920"/>
            <a:ext cx="1325880" cy="411480"/>
          </a:xfrm>
          <a:prstGeom prst="rect">
            <a:avLst/>
          </a:prstGeom>
          <a:solidFill>
            <a:srgbClr val="65873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9509760" y="396849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2.07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417320" y="434340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1463040" y="43982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+2 TO +3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880360" y="4343400"/>
            <a:ext cx="1325880" cy="411480"/>
          </a:xfrm>
          <a:prstGeom prst="rect">
            <a:avLst/>
          </a:prstGeom>
          <a:solidFill>
            <a:srgbClr val="749B47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2880360" y="43799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2.53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206240" y="4343400"/>
            <a:ext cx="1325880" cy="411480"/>
          </a:xfrm>
          <a:prstGeom prst="rect">
            <a:avLst/>
          </a:prstGeom>
          <a:solidFill>
            <a:srgbClr val="759C48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4206240" y="43799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2.56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532120" y="4343400"/>
            <a:ext cx="1325880" cy="411480"/>
          </a:xfrm>
          <a:prstGeom prst="rect">
            <a:avLst/>
          </a:prstGeom>
          <a:solidFill>
            <a:srgbClr val="78A04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5532120" y="43799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2.66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858000" y="4343400"/>
            <a:ext cx="1325880" cy="411480"/>
          </a:xfrm>
          <a:prstGeom prst="rect">
            <a:avLst/>
          </a:prstGeom>
          <a:solidFill>
            <a:srgbClr val="79A24A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6858000" y="43799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2.70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183879" y="4343400"/>
            <a:ext cx="1325880" cy="411480"/>
          </a:xfrm>
          <a:prstGeom prst="rect">
            <a:avLst/>
          </a:prstGeom>
          <a:solidFill>
            <a:srgbClr val="7AA34B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8183879" y="43799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2.73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509760" y="4343400"/>
            <a:ext cx="1325880" cy="411480"/>
          </a:xfrm>
          <a:prstGeom prst="rect">
            <a:avLst/>
          </a:prstGeom>
          <a:solidFill>
            <a:srgbClr val="7FA94D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9509760" y="437997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2.88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417320" y="475488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1463040" y="4809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+3 TO +4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880360" y="475488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2880360" y="47914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206240" y="475488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4206240" y="47914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532120" y="4754880"/>
            <a:ext cx="1325880" cy="411480"/>
          </a:xfrm>
          <a:prstGeom prst="rect">
            <a:avLst/>
          </a:prstGeom>
          <a:solidFill>
            <a:srgbClr val="81AB4E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5532120" y="47914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2.93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858000" y="4754880"/>
            <a:ext cx="1325880" cy="411480"/>
          </a:xfrm>
          <a:prstGeom prst="rect">
            <a:avLst/>
          </a:prstGeom>
          <a:solidFill>
            <a:srgbClr val="81AB4E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6858000" y="47914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2.93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183879" y="4754880"/>
            <a:ext cx="1325880" cy="411480"/>
          </a:xfrm>
          <a:prstGeom prst="rect">
            <a:avLst/>
          </a:prstGeom>
          <a:solidFill>
            <a:srgbClr val="81AC4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8183879" y="47914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2.95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509760" y="475488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9509760" y="479145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417320" y="5166360"/>
            <a:ext cx="1463040" cy="411480"/>
          </a:xfrm>
          <a:prstGeom prst="rect">
            <a:avLst/>
          </a:prstGeom>
          <a:solidFill>
            <a:srgbClr val="0E1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1463040" y="52212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A68F"/>
                </a:solidFill>
                <a:latin typeface="JetBrains Mono"/>
              </a:rPr>
              <a:t>+4 TO +5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880360" y="5166360"/>
            <a:ext cx="1325880" cy="411480"/>
          </a:xfrm>
          <a:prstGeom prst="rect">
            <a:avLst/>
          </a:prstGeom>
          <a:solidFill>
            <a:srgbClr val="111A11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4206240" y="516636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4206240" y="52029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532120" y="516636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5532120" y="52029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858000" y="5166360"/>
            <a:ext cx="1325880" cy="411480"/>
          </a:xfrm>
          <a:prstGeom prst="rect">
            <a:avLst/>
          </a:prstGeom>
          <a:solidFill>
            <a:srgbClr val="82AD4F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6858000" y="52029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2.97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183879" y="516636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8183879" y="52029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509760" y="5166360"/>
            <a:ext cx="1325880" cy="411480"/>
          </a:xfrm>
          <a:prstGeom prst="rect">
            <a:avLst/>
          </a:prstGeom>
          <a:solidFill>
            <a:srgbClr val="83AE50"/>
          </a:solidFill>
          <a:ln w="5080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9509760" y="52029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8EFE8"/>
                </a:solidFill>
                <a:latin typeface="JetBrains Mono"/>
              </a:rPr>
              <a:t>3.00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Showing GD ∈ [−4, +4]; the full table covers [−7, +7]. Cells brighten with expected points.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AGGREGATE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Where the expected points get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cashed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39932"/>
            <a:ext cx="10972800" cy="4189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Sum of (ep_collected × n) across every transition, per minute bin. The last 15 minutes deliver ~1.6× the value of the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0 →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opener: worth more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longer it took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to arrive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39932"/>
            <a:ext cx="10972800" cy="4189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EP collected from a 0→1 goal by minute bin. Late opener (1.68 EP) is 2.1× the early one (0.79 EP).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LEADERBOARD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Top 10 EP collectors · Goals + Assists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79" y="1463040"/>
            <a:ext cx="106172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All leagues, all seasons pooled. Goals + assists combined; players pooled across team transfers (primary team labelled).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SPOTLIGHT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biggest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time-aware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upgrade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BIGGEST GAINER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Mário Rui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A68F"/>
                </a:solidFill>
                <a:latin typeface="JetBrains Mono"/>
              </a:rPr>
              <a:t>Napoli  ·  28 G+A pooled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C1FF72"/>
                </a:solidFill>
                <a:latin typeface="Instrument Serif"/>
              </a:rPr>
              <a:t>+3.43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Δ EP FROM TIME-AWARE RE-RATING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177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A68F"/>
                </a:solidFill>
                <a:latin typeface="JetBrains Mono"/>
              </a:rPr>
              <a:t>(24.11 timed  −  20.68 untimed)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5 UPGRADES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965960"/>
            <a:ext cx="521208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1FF72"/>
                </a:solidFill>
                <a:latin typeface="JetBrains Mono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1031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EFE8"/>
                </a:solidFill>
                <a:latin typeface="DM Sans"/>
              </a:rPr>
              <a:t>Mário Rui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1031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C1FF72"/>
                </a:solidFill>
                <a:latin typeface="JetBrains Mono"/>
              </a:rPr>
              <a:t>+3.43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0603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2606039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Evann Guessand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60603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+3.34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10895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108959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Cristian Tello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10895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+2.82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6118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79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Adama Traoré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361187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+2.69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11479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4114799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Youssoufa Moukoko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411479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+2.58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 walking late-equaliser: ~30 career goals in scope, almost entirely in score-tied late minutes.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Goals are not a unit — they are a function of state and time. EP-weighted rankings expose contribution patterns raw counts can't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Recruitment with leverage in mind: a player whose 12 goals are mostly late equalisers is materially different from one whose 12 are 4–0 cushions.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Squad-management: knowing which minute bins your forwards harvest from informs substitution timing and game-state-conditional roles.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Coaching: late-minute defending decisions get a clean valuation — the equaliser you concede in the 88th minute is worth ~1.7× the one in the 18th.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isn't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Not xG-weighted. A tap-in and a 30-yard volley count the same.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Penalties and own goals are not separated from open play (next iteration).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Assist credit caps at SCA1 — build-up beyond the first shot-creating action isn't captured.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Observational, not causal: it values the gap between states, not the goal's incremental effect on the final outcome.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Pooled value function across leagues — per-league calibration available in the dashboard.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Full discussion: methodology.html · §5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E8EFE8"/>
                </a:solidFill>
                <a:latin typeface="Instrument Serif"/>
              </a:rPr>
              <a:t>Want every cell, every league, every season?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Full methodology, source code and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C1FF72"/>
                </a:solidFill>
                <a:latin typeface="Instrument Serif"/>
              </a:rPr>
              <a:t>renball.com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/PROJECTS/02-POINTS-BY-GAMESTATE/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analysis.html        editorial write-up with five Chart.js + D3 visuals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3494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dashboard.html       full interactive Tabulator dashboard, six datasets, drill-down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methodology.html     formal write-up — state-value math, attribution, eight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29300"/>
            <a:ext cx="10972800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code/build.py        Python pipeline from raw pickles to 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