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1FF72"/>
                </a:solidFill>
                <a:latin typeface="JetBrains Mono"/>
              </a:rPr>
              <a:t>RESEARCH ·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109728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0" i="0">
                <a:solidFill>
                  <a:srgbClr val="E8EFE8"/>
                </a:solidFill>
                <a:latin typeface="Instrument Serif"/>
              </a:rPr>
              <a:t>Not All Goals Are </a:t>
            </a:r>
            <a:r>
              <a:rPr sz="5400" b="0" i="1">
                <a:solidFill>
                  <a:srgbClr val="C1FF72"/>
                </a:solidFill>
                <a:latin typeface="Instrument Serif"/>
              </a:rPr>
              <a:t>Equal</a:t>
            </a:r>
            <a:r>
              <a:rPr sz="5400" b="0" i="0">
                <a:solidFill>
                  <a:srgbClr val="E8EFE8"/>
                </a:solidFill>
                <a:latin typeface="Instrument Serif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754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FA68F"/>
                </a:solidFill>
                <a:latin typeface="JetBrains Mono"/>
              </a:rPr>
              <a:t>A TIME-AWARE EXPECTED-POINTS MODEL · TOP 5 LEAGUES + EREDIVISIE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212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2026·05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6235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TL;DR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TL;DR — three sentences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C1FF72"/>
                </a:solidFill>
                <a:latin typeface="Instrument Serif"/>
              </a:rPr>
              <a:t>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5087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A goal that takes a team from 0–0 to 1–0 in the final fifteen minutes is worth 1.68 expected points — 2.1× the same transition in the opening fifteen.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C1FF72"/>
                </a:solidFill>
                <a:latin typeface="Instrument Serif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4231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Across 39,381 goals in six leagues and seven seasons we observed 82 of 90 theoretical (gd × minute_bin) states.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91840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C1FF72"/>
                </a:solidFill>
                <a:latin typeface="Instrument Serif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337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The model's biggest gainer over the time-blind baseline is Mário Rui (+3.43 ΔEP on 28 G+A) — mostly assist-type credits that land in high-value minutes.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THE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Are all goals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equal</a:t>
            </a:r>
            <a:r>
              <a:rPr sz="3200" b="0" i="0">
                <a:solidFill>
                  <a:srgbClr val="E8EFE8"/>
                </a:solidFill>
                <a:latin typeface="Instrument Serif"/>
              </a:rPr>
              <a:t>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1">
                <a:solidFill>
                  <a:srgbClr val="E8EFE8"/>
                </a:solidFill>
                <a:latin typeface="Instrument Serif"/>
              </a:rPr>
              <a:t>Three goals, three different lengths of game ahead. Should we treat them the same?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231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EARLY OPENER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2377440"/>
            <a:ext cx="8229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8FA68F"/>
                </a:solidFill>
                <a:latin typeface="DM Sans"/>
              </a:rPr>
              <a:t>0–0 to 1–0 in the 5th minute. 85 minutes still to play, everyone resets.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LATE EQUALISER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3063240"/>
            <a:ext cx="8229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8FA68F"/>
                </a:solidFill>
                <a:latin typeface="DM Sans"/>
              </a:rPr>
              <a:t>1–2 to 2–2 in the 88th minute. Pulls a point out of a lost match.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7947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CONSOLATION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3749040"/>
            <a:ext cx="8229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8FA68F"/>
                </a:solidFill>
                <a:latin typeface="DM Sans"/>
              </a:rPr>
              <a:t>4–0 down, you score in stoppage. Doesn't move the table.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C1FF72"/>
                </a:solidFill>
                <a:latin typeface="DM Sans"/>
              </a:rPr>
              <a:t>→ The standard scoreboard treats them the same. We won't.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What we built the framework 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2606040" cy="146304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59" y="1600200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0" i="0">
                <a:solidFill>
                  <a:srgbClr val="C1FF72"/>
                </a:solidFill>
                <a:latin typeface="Instrument Serif"/>
              </a:rPr>
              <a:t>39,381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4231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GOALS ANALYZED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463040"/>
            <a:ext cx="2606040" cy="146304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566160" y="1600200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0" i="0">
                <a:solidFill>
                  <a:srgbClr val="C1FF72"/>
                </a:solidFill>
                <a:latin typeface="Instrument Serif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4231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LEAGUES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463040"/>
            <a:ext cx="2606040" cy="146304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09360" y="1600200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0" i="0">
                <a:solidFill>
                  <a:srgbClr val="C1FF72"/>
                </a:solidFill>
                <a:latin typeface="Instrument Serif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4231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SEASONS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69680" y="1463040"/>
            <a:ext cx="2606040" cy="146304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052559" y="1600200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0" i="0">
                <a:solidFill>
                  <a:srgbClr val="C1FF72"/>
                </a:solidFill>
                <a:latin typeface="Instrument Serif"/>
              </a:rPr>
              <a:t>82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59" y="24231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MODELLED STATES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246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FA68F"/>
                </a:solidFill>
                <a:latin typeface="DM Sans"/>
              </a:rPr>
              <a:t>Seasons in scope: 2017-2018 → 2023-2024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703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FA68F"/>
                </a:solidFill>
                <a:latin typeface="DM Sans"/>
              </a:rPr>
              <a:t>Leagues: Bundesliga, Eredivisie, La-Liga, Ligue-1, Premier-League, Serie-A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1605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FA68F"/>
                </a:solidFill>
                <a:latin typeface="DM Sans"/>
              </a:rPr>
              <a:t>Source: FBref-derived shot tables, one pickle per league (match_data_final_&lt;league&gt;.pkl).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Variables: scoring team, outcome=goal, goalscorer, SCA1 (assist), minute (parsed including stoppage suffixes).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THE VALUE FUNCTION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How a goal gets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priced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8FA68F"/>
                </a:solidFill>
                <a:latin typeface="DM Sans"/>
              </a:rPr>
              <a:t>For every pre-goal state (goal_difference, minute_bin) we compute the empirical expected points.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10972800" cy="1143000"/>
          </a:xfrm>
          <a:prstGeom prst="rect">
            <a:avLst/>
          </a:prstGeom>
          <a:solidFill>
            <a:srgbClr val="111A11"/>
          </a:solidFill>
          <a:ln w="15240">
            <a:solidFill>
              <a:srgbClr val="C1F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14400" y="2148840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C1FF72"/>
                </a:solidFill>
                <a:latin typeface="JetBrains Mono"/>
              </a:rPr>
              <a:t>EP(gd, minute_bin)  =  3 · P(W | state)  +  1 · P(D | state)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97480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735A"/>
                </a:solidFill>
                <a:latin typeface="JetBrains Mono"/>
              </a:rPr>
              <a:t>Mean of final-match points over every team that entered this (gd, bin) state.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918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8FA68F"/>
                </a:solidFill>
                <a:latin typeface="DM Sans"/>
              </a:rPr>
              <a:t>A goal's value compares transitions in the same minute bin: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794760"/>
            <a:ext cx="10972800" cy="114300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3977639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E8EFE8"/>
                </a:solidFill>
                <a:latin typeface="JetBrains Mono"/>
              </a:rPr>
              <a:t>ep_collected  =  EP_T(g → g+1, bin)  −  EP_T(g−1 → g, bin)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526280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735A"/>
                </a:solidFill>
                <a:latin typeface="JetBrains Mono"/>
              </a:rPr>
              <a:t>EP_T = mean final points of the teams that made that transition in that bin. The lowest observed transition in each bin is set to 0.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STATE VALUE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Expected final points at each (GD, minute)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1417320" y="1463040"/>
            <a:ext cx="1463040" cy="411480"/>
          </a:xfrm>
          <a:prstGeom prst="rect">
            <a:avLst/>
          </a:prstGeom>
          <a:solidFill>
            <a:srgbClr val="0E15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Rectangle 6"/>
          <p:cNvSpPr/>
          <p:nvPr/>
        </p:nvSpPr>
        <p:spPr>
          <a:xfrm>
            <a:off x="2880360" y="1463040"/>
            <a:ext cx="1325880" cy="411480"/>
          </a:xfrm>
          <a:prstGeom prst="rect">
            <a:avLst/>
          </a:prstGeom>
          <a:solidFill>
            <a:srgbClr val="0E15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2880360" y="1508760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8FA68F"/>
                </a:solidFill>
                <a:latin typeface="JetBrains Mono"/>
              </a:rPr>
              <a:t>0-15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463040"/>
            <a:ext cx="1325880" cy="411480"/>
          </a:xfrm>
          <a:prstGeom prst="rect">
            <a:avLst/>
          </a:prstGeom>
          <a:solidFill>
            <a:srgbClr val="0E15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206240" y="1508760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8FA68F"/>
                </a:solidFill>
                <a:latin typeface="JetBrains Mono"/>
              </a:rPr>
              <a:t>15-30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32120" y="1463040"/>
            <a:ext cx="1325880" cy="411480"/>
          </a:xfrm>
          <a:prstGeom prst="rect">
            <a:avLst/>
          </a:prstGeom>
          <a:solidFill>
            <a:srgbClr val="0E15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532120" y="1508760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8FA68F"/>
                </a:solidFill>
                <a:latin typeface="JetBrains Mono"/>
              </a:rPr>
              <a:t>30-45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1463040"/>
            <a:ext cx="1325880" cy="411480"/>
          </a:xfrm>
          <a:prstGeom prst="rect">
            <a:avLst/>
          </a:prstGeom>
          <a:solidFill>
            <a:srgbClr val="0E15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858000" y="1508760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8FA68F"/>
                </a:solidFill>
                <a:latin typeface="JetBrains Mono"/>
              </a:rPr>
              <a:t>45-60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83879" y="1463040"/>
            <a:ext cx="1325880" cy="411480"/>
          </a:xfrm>
          <a:prstGeom prst="rect">
            <a:avLst/>
          </a:prstGeom>
          <a:solidFill>
            <a:srgbClr val="0E15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183879" y="1508760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8FA68F"/>
                </a:solidFill>
                <a:latin typeface="JetBrains Mono"/>
              </a:rPr>
              <a:t>60-75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509760" y="1463040"/>
            <a:ext cx="1325880" cy="411480"/>
          </a:xfrm>
          <a:prstGeom prst="rect">
            <a:avLst/>
          </a:prstGeom>
          <a:solidFill>
            <a:srgbClr val="0E15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0" y="1508760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8FA68F"/>
                </a:solidFill>
                <a:latin typeface="JetBrains Mono"/>
              </a:rPr>
              <a:t>75-90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17320" y="1874520"/>
            <a:ext cx="1463040" cy="411480"/>
          </a:xfrm>
          <a:prstGeom prst="rect">
            <a:avLst/>
          </a:prstGeom>
          <a:solidFill>
            <a:srgbClr val="0E15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463040" y="192938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FA68F"/>
                </a:solidFill>
                <a:latin typeface="JetBrains Mono"/>
              </a:rPr>
              <a:t>−4 TO −3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880360" y="1874520"/>
            <a:ext cx="1325880" cy="411480"/>
          </a:xfrm>
          <a:prstGeom prst="rect">
            <a:avLst/>
          </a:prstGeom>
          <a:solidFill>
            <a:srgbClr val="111A11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4206240" y="1874520"/>
            <a:ext cx="1325880" cy="411480"/>
          </a:xfrm>
          <a:prstGeom prst="rect">
            <a:avLst/>
          </a:prstGeom>
          <a:solidFill>
            <a:srgbClr val="22301A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206240" y="191109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0.00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532120" y="1874520"/>
            <a:ext cx="1325880" cy="411480"/>
          </a:xfrm>
          <a:prstGeom prst="rect">
            <a:avLst/>
          </a:prstGeom>
          <a:solidFill>
            <a:srgbClr val="22301A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532120" y="191109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0.00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0" y="1874520"/>
            <a:ext cx="1325880" cy="411480"/>
          </a:xfrm>
          <a:prstGeom prst="rect">
            <a:avLst/>
          </a:prstGeom>
          <a:solidFill>
            <a:srgbClr val="23311A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858000" y="191109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0.02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83879" y="1874520"/>
            <a:ext cx="1325880" cy="411480"/>
          </a:xfrm>
          <a:prstGeom prst="rect">
            <a:avLst/>
          </a:prstGeom>
          <a:solidFill>
            <a:srgbClr val="22301A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183879" y="191109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0.00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09760" y="1874520"/>
            <a:ext cx="1325880" cy="411480"/>
          </a:xfrm>
          <a:prstGeom prst="rect">
            <a:avLst/>
          </a:prstGeom>
          <a:solidFill>
            <a:srgbClr val="22301A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509760" y="191109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0.00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417320" y="2286000"/>
            <a:ext cx="1463040" cy="411480"/>
          </a:xfrm>
          <a:prstGeom prst="rect">
            <a:avLst/>
          </a:prstGeom>
          <a:solidFill>
            <a:srgbClr val="0E15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463040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FA68F"/>
                </a:solidFill>
                <a:latin typeface="JetBrains Mono"/>
              </a:rPr>
              <a:t>−3 TO −2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80360" y="2286000"/>
            <a:ext cx="1325880" cy="411480"/>
          </a:xfrm>
          <a:prstGeom prst="rect">
            <a:avLst/>
          </a:prstGeom>
          <a:solidFill>
            <a:srgbClr val="22301A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2880360" y="232257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0.00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06240" y="2286000"/>
            <a:ext cx="1325880" cy="411480"/>
          </a:xfrm>
          <a:prstGeom prst="rect">
            <a:avLst/>
          </a:prstGeom>
          <a:solidFill>
            <a:srgbClr val="22301A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4206240" y="232257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0.00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32120" y="2286000"/>
            <a:ext cx="1325880" cy="411480"/>
          </a:xfrm>
          <a:prstGeom prst="rect">
            <a:avLst/>
          </a:prstGeom>
          <a:solidFill>
            <a:srgbClr val="23321B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5532120" y="232257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0.04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58000" y="2286000"/>
            <a:ext cx="1325880" cy="411480"/>
          </a:xfrm>
          <a:prstGeom prst="rect">
            <a:avLst/>
          </a:prstGeom>
          <a:solidFill>
            <a:srgbClr val="24321B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6858000" y="232257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0.05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183879" y="2286000"/>
            <a:ext cx="1325880" cy="411480"/>
          </a:xfrm>
          <a:prstGeom prst="rect">
            <a:avLst/>
          </a:prstGeom>
          <a:solidFill>
            <a:srgbClr val="23321B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8183879" y="232257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0.03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509760" y="2286000"/>
            <a:ext cx="1325880" cy="411480"/>
          </a:xfrm>
          <a:prstGeom prst="rect">
            <a:avLst/>
          </a:prstGeom>
          <a:solidFill>
            <a:srgbClr val="22301A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9509760" y="232257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0.00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417320" y="2697480"/>
            <a:ext cx="1463040" cy="411480"/>
          </a:xfrm>
          <a:prstGeom prst="rect">
            <a:avLst/>
          </a:prstGeom>
          <a:solidFill>
            <a:srgbClr val="0E15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1463040" y="275234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FA68F"/>
                </a:solidFill>
                <a:latin typeface="JetBrains Mono"/>
              </a:rPr>
              <a:t>−2 TO −1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80360" y="2697480"/>
            <a:ext cx="1325880" cy="411480"/>
          </a:xfrm>
          <a:prstGeom prst="rect">
            <a:avLst/>
          </a:prstGeom>
          <a:solidFill>
            <a:srgbClr val="2E4021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2880360" y="273405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0.38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2697480"/>
            <a:ext cx="1325880" cy="411480"/>
          </a:xfrm>
          <a:prstGeom prst="rect">
            <a:avLst/>
          </a:prstGeom>
          <a:solidFill>
            <a:srgbClr val="2D3E20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4206240" y="273405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0.33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532120" y="2697480"/>
            <a:ext cx="1325880" cy="411480"/>
          </a:xfrm>
          <a:prstGeom prst="rect">
            <a:avLst/>
          </a:prstGeom>
          <a:solidFill>
            <a:srgbClr val="2A3A1E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5532120" y="273405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0.24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858000" y="2697480"/>
            <a:ext cx="1325880" cy="411480"/>
          </a:xfrm>
          <a:prstGeom prst="rect">
            <a:avLst/>
          </a:prstGeom>
          <a:solidFill>
            <a:srgbClr val="29391E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6858000" y="273405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0.21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83879" y="2697480"/>
            <a:ext cx="1325880" cy="411480"/>
          </a:xfrm>
          <a:prstGeom prst="rect">
            <a:avLst/>
          </a:prstGeom>
          <a:solidFill>
            <a:srgbClr val="28381D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8183879" y="273405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0.18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509760" y="2697480"/>
            <a:ext cx="1325880" cy="411480"/>
          </a:xfrm>
          <a:prstGeom prst="rect">
            <a:avLst/>
          </a:prstGeom>
          <a:solidFill>
            <a:srgbClr val="24331B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9509760" y="273405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0.07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417320" y="3108960"/>
            <a:ext cx="1463040" cy="411480"/>
          </a:xfrm>
          <a:prstGeom prst="rect">
            <a:avLst/>
          </a:prstGeom>
          <a:solidFill>
            <a:srgbClr val="0E15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1463040" y="316382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FA68F"/>
                </a:solidFill>
                <a:latin typeface="JetBrains Mono"/>
              </a:rPr>
              <a:t>−1 TO 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880360" y="3108960"/>
            <a:ext cx="1325880" cy="411480"/>
          </a:xfrm>
          <a:prstGeom prst="rect">
            <a:avLst/>
          </a:prstGeom>
          <a:solidFill>
            <a:srgbClr val="3A5028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2880360" y="314553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0.75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206240" y="3108960"/>
            <a:ext cx="1325880" cy="411480"/>
          </a:xfrm>
          <a:prstGeom prst="rect">
            <a:avLst/>
          </a:prstGeom>
          <a:solidFill>
            <a:srgbClr val="3A5028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4206240" y="314553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0.75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532120" y="3108960"/>
            <a:ext cx="1325880" cy="411480"/>
          </a:xfrm>
          <a:prstGeom prst="rect">
            <a:avLst/>
          </a:prstGeom>
          <a:solidFill>
            <a:srgbClr val="3A4F27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5532120" y="314553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0.74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858000" y="3108960"/>
            <a:ext cx="1325880" cy="411480"/>
          </a:xfrm>
          <a:prstGeom prst="rect">
            <a:avLst/>
          </a:prstGeom>
          <a:solidFill>
            <a:srgbClr val="394E27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6858000" y="314553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0.70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183879" y="3108960"/>
            <a:ext cx="1325880" cy="411480"/>
          </a:xfrm>
          <a:prstGeom prst="rect">
            <a:avLst/>
          </a:prstGeom>
          <a:solidFill>
            <a:srgbClr val="374B26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8183879" y="314553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0.64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509760" y="3108960"/>
            <a:ext cx="1325880" cy="411480"/>
          </a:xfrm>
          <a:prstGeom prst="rect">
            <a:avLst/>
          </a:prstGeom>
          <a:solidFill>
            <a:srgbClr val="344824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9509760" y="314553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0.56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417320" y="3520440"/>
            <a:ext cx="1463040" cy="411480"/>
          </a:xfrm>
          <a:prstGeom prst="rect">
            <a:avLst/>
          </a:prstGeom>
          <a:solidFill>
            <a:srgbClr val="0E15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1463040" y="357530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FA68F"/>
                </a:solidFill>
                <a:latin typeface="JetBrains Mono"/>
              </a:rPr>
              <a:t>0 TO +1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880360" y="3520440"/>
            <a:ext cx="1325880" cy="411480"/>
          </a:xfrm>
          <a:prstGeom prst="rect">
            <a:avLst/>
          </a:prstGeom>
          <a:solidFill>
            <a:srgbClr val="4F6B33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7" name="TextBox 76"/>
          <p:cNvSpPr txBox="1"/>
          <p:nvPr/>
        </p:nvSpPr>
        <p:spPr>
          <a:xfrm>
            <a:off x="2880360" y="355701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1.40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206240" y="3520440"/>
            <a:ext cx="1325880" cy="411480"/>
          </a:xfrm>
          <a:prstGeom prst="rect">
            <a:avLst/>
          </a:prstGeom>
          <a:solidFill>
            <a:srgbClr val="4F6B33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9" name="TextBox 78"/>
          <p:cNvSpPr txBox="1"/>
          <p:nvPr/>
        </p:nvSpPr>
        <p:spPr>
          <a:xfrm>
            <a:off x="4206240" y="355701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1.40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532120" y="3520440"/>
            <a:ext cx="1325880" cy="411480"/>
          </a:xfrm>
          <a:prstGeom prst="rect">
            <a:avLst/>
          </a:prstGeom>
          <a:solidFill>
            <a:srgbClr val="4F6B33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5532120" y="355701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1.39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858000" y="3520440"/>
            <a:ext cx="1325880" cy="411480"/>
          </a:xfrm>
          <a:prstGeom prst="rect">
            <a:avLst/>
          </a:prstGeom>
          <a:solidFill>
            <a:srgbClr val="4F6B33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83" name="TextBox 82"/>
          <p:cNvSpPr txBox="1"/>
          <p:nvPr/>
        </p:nvSpPr>
        <p:spPr>
          <a:xfrm>
            <a:off x="6858000" y="355701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1.40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183879" y="3520440"/>
            <a:ext cx="1325880" cy="411480"/>
          </a:xfrm>
          <a:prstGeom prst="rect">
            <a:avLst/>
          </a:prstGeom>
          <a:solidFill>
            <a:srgbClr val="4F6B33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8183879" y="355701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1.41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509760" y="3520440"/>
            <a:ext cx="1325880" cy="411480"/>
          </a:xfrm>
          <a:prstGeom prst="rect">
            <a:avLst/>
          </a:prstGeom>
          <a:solidFill>
            <a:srgbClr val="516E34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87" name="TextBox 86"/>
          <p:cNvSpPr txBox="1"/>
          <p:nvPr/>
        </p:nvSpPr>
        <p:spPr>
          <a:xfrm>
            <a:off x="9509760" y="355701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1.46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417320" y="3931920"/>
            <a:ext cx="1463040" cy="411480"/>
          </a:xfrm>
          <a:prstGeom prst="rect">
            <a:avLst/>
          </a:prstGeom>
          <a:solidFill>
            <a:srgbClr val="0E15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1463040" y="398678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FA68F"/>
                </a:solidFill>
                <a:latin typeface="JetBrains Mono"/>
              </a:rPr>
              <a:t>+1 TO +2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880360" y="3931920"/>
            <a:ext cx="1325880" cy="411480"/>
          </a:xfrm>
          <a:prstGeom prst="rect">
            <a:avLst/>
          </a:prstGeom>
          <a:solidFill>
            <a:srgbClr val="65873F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2880360" y="396849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2.07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206240" y="3931920"/>
            <a:ext cx="1325880" cy="411480"/>
          </a:xfrm>
          <a:prstGeom prst="rect">
            <a:avLst/>
          </a:prstGeom>
          <a:solidFill>
            <a:srgbClr val="65873F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4206240" y="396849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2.07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532120" y="3931920"/>
            <a:ext cx="1325880" cy="411480"/>
          </a:xfrm>
          <a:prstGeom prst="rect">
            <a:avLst/>
          </a:prstGeom>
          <a:solidFill>
            <a:srgbClr val="65873F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95" name="TextBox 94"/>
          <p:cNvSpPr txBox="1"/>
          <p:nvPr/>
        </p:nvSpPr>
        <p:spPr>
          <a:xfrm>
            <a:off x="5532120" y="396849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2.07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858000" y="3931920"/>
            <a:ext cx="1325880" cy="411480"/>
          </a:xfrm>
          <a:prstGeom prst="rect">
            <a:avLst/>
          </a:prstGeom>
          <a:solidFill>
            <a:srgbClr val="65883F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97" name="TextBox 96"/>
          <p:cNvSpPr txBox="1"/>
          <p:nvPr/>
        </p:nvSpPr>
        <p:spPr>
          <a:xfrm>
            <a:off x="6858000" y="396849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2.08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83879" y="3931920"/>
            <a:ext cx="1325880" cy="411480"/>
          </a:xfrm>
          <a:prstGeom prst="rect">
            <a:avLst/>
          </a:prstGeom>
          <a:solidFill>
            <a:srgbClr val="668940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99" name="TextBox 98"/>
          <p:cNvSpPr txBox="1"/>
          <p:nvPr/>
        </p:nvSpPr>
        <p:spPr>
          <a:xfrm>
            <a:off x="8183879" y="396849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2.10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509760" y="3931920"/>
            <a:ext cx="1325880" cy="411480"/>
          </a:xfrm>
          <a:prstGeom prst="rect">
            <a:avLst/>
          </a:prstGeom>
          <a:solidFill>
            <a:srgbClr val="65873F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01" name="TextBox 100"/>
          <p:cNvSpPr txBox="1"/>
          <p:nvPr/>
        </p:nvSpPr>
        <p:spPr>
          <a:xfrm>
            <a:off x="9509760" y="396849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2.07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417320" y="4343400"/>
            <a:ext cx="1463040" cy="411480"/>
          </a:xfrm>
          <a:prstGeom prst="rect">
            <a:avLst/>
          </a:prstGeom>
          <a:solidFill>
            <a:srgbClr val="0E15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03" name="TextBox 102"/>
          <p:cNvSpPr txBox="1"/>
          <p:nvPr/>
        </p:nvSpPr>
        <p:spPr>
          <a:xfrm>
            <a:off x="1463040" y="43982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FA68F"/>
                </a:solidFill>
                <a:latin typeface="JetBrains Mono"/>
              </a:rPr>
              <a:t>+2 TO +3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2880360" y="4343400"/>
            <a:ext cx="1325880" cy="411480"/>
          </a:xfrm>
          <a:prstGeom prst="rect">
            <a:avLst/>
          </a:prstGeom>
          <a:solidFill>
            <a:srgbClr val="749B47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05" name="TextBox 104"/>
          <p:cNvSpPr txBox="1"/>
          <p:nvPr/>
        </p:nvSpPr>
        <p:spPr>
          <a:xfrm>
            <a:off x="2880360" y="437997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2.53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206240" y="4343400"/>
            <a:ext cx="1325880" cy="411480"/>
          </a:xfrm>
          <a:prstGeom prst="rect">
            <a:avLst/>
          </a:prstGeom>
          <a:solidFill>
            <a:srgbClr val="759C48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07" name="TextBox 106"/>
          <p:cNvSpPr txBox="1"/>
          <p:nvPr/>
        </p:nvSpPr>
        <p:spPr>
          <a:xfrm>
            <a:off x="4206240" y="437997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2.56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5532120" y="4343400"/>
            <a:ext cx="1325880" cy="411480"/>
          </a:xfrm>
          <a:prstGeom prst="rect">
            <a:avLst/>
          </a:prstGeom>
          <a:solidFill>
            <a:srgbClr val="78A04A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09" name="TextBox 108"/>
          <p:cNvSpPr txBox="1"/>
          <p:nvPr/>
        </p:nvSpPr>
        <p:spPr>
          <a:xfrm>
            <a:off x="5532120" y="437997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2.66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858000" y="4343400"/>
            <a:ext cx="1325880" cy="411480"/>
          </a:xfrm>
          <a:prstGeom prst="rect">
            <a:avLst/>
          </a:prstGeom>
          <a:solidFill>
            <a:srgbClr val="79A24A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11" name="TextBox 110"/>
          <p:cNvSpPr txBox="1"/>
          <p:nvPr/>
        </p:nvSpPr>
        <p:spPr>
          <a:xfrm>
            <a:off x="6858000" y="437997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2.70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183879" y="4343400"/>
            <a:ext cx="1325880" cy="411480"/>
          </a:xfrm>
          <a:prstGeom prst="rect">
            <a:avLst/>
          </a:prstGeom>
          <a:solidFill>
            <a:srgbClr val="7AA34B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13" name="TextBox 112"/>
          <p:cNvSpPr txBox="1"/>
          <p:nvPr/>
        </p:nvSpPr>
        <p:spPr>
          <a:xfrm>
            <a:off x="8183879" y="437997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2.73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9509760" y="4343400"/>
            <a:ext cx="1325880" cy="411480"/>
          </a:xfrm>
          <a:prstGeom prst="rect">
            <a:avLst/>
          </a:prstGeom>
          <a:solidFill>
            <a:srgbClr val="7FA94D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9509760" y="437997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2.88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1417320" y="4754880"/>
            <a:ext cx="1463040" cy="411480"/>
          </a:xfrm>
          <a:prstGeom prst="rect">
            <a:avLst/>
          </a:prstGeom>
          <a:solidFill>
            <a:srgbClr val="0E15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17" name="TextBox 116"/>
          <p:cNvSpPr txBox="1"/>
          <p:nvPr/>
        </p:nvSpPr>
        <p:spPr>
          <a:xfrm>
            <a:off x="1463040" y="480974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FA68F"/>
                </a:solidFill>
                <a:latin typeface="JetBrains Mono"/>
              </a:rPr>
              <a:t>+3 TO +4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2880360" y="4754880"/>
            <a:ext cx="1325880" cy="411480"/>
          </a:xfrm>
          <a:prstGeom prst="rect">
            <a:avLst/>
          </a:prstGeom>
          <a:solidFill>
            <a:srgbClr val="83AE50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19" name="TextBox 118"/>
          <p:cNvSpPr txBox="1"/>
          <p:nvPr/>
        </p:nvSpPr>
        <p:spPr>
          <a:xfrm>
            <a:off x="2880360" y="479145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3.00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4206240" y="4754880"/>
            <a:ext cx="1325880" cy="411480"/>
          </a:xfrm>
          <a:prstGeom prst="rect">
            <a:avLst/>
          </a:prstGeom>
          <a:solidFill>
            <a:srgbClr val="83AE50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21" name="TextBox 120"/>
          <p:cNvSpPr txBox="1"/>
          <p:nvPr/>
        </p:nvSpPr>
        <p:spPr>
          <a:xfrm>
            <a:off x="4206240" y="479145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3.00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532120" y="4754880"/>
            <a:ext cx="1325880" cy="411480"/>
          </a:xfrm>
          <a:prstGeom prst="rect">
            <a:avLst/>
          </a:prstGeom>
          <a:solidFill>
            <a:srgbClr val="81AB4E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23" name="TextBox 122"/>
          <p:cNvSpPr txBox="1"/>
          <p:nvPr/>
        </p:nvSpPr>
        <p:spPr>
          <a:xfrm>
            <a:off x="5532120" y="479145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2.93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858000" y="4754880"/>
            <a:ext cx="1325880" cy="411480"/>
          </a:xfrm>
          <a:prstGeom prst="rect">
            <a:avLst/>
          </a:prstGeom>
          <a:solidFill>
            <a:srgbClr val="81AB4E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25" name="TextBox 124"/>
          <p:cNvSpPr txBox="1"/>
          <p:nvPr/>
        </p:nvSpPr>
        <p:spPr>
          <a:xfrm>
            <a:off x="6858000" y="479145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2.93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8183879" y="4754880"/>
            <a:ext cx="1325880" cy="411480"/>
          </a:xfrm>
          <a:prstGeom prst="rect">
            <a:avLst/>
          </a:prstGeom>
          <a:solidFill>
            <a:srgbClr val="81AC4F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27" name="TextBox 126"/>
          <p:cNvSpPr txBox="1"/>
          <p:nvPr/>
        </p:nvSpPr>
        <p:spPr>
          <a:xfrm>
            <a:off x="8183879" y="479145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2.95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9509760" y="4754880"/>
            <a:ext cx="1325880" cy="411480"/>
          </a:xfrm>
          <a:prstGeom prst="rect">
            <a:avLst/>
          </a:prstGeom>
          <a:solidFill>
            <a:srgbClr val="83AE50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29" name="TextBox 128"/>
          <p:cNvSpPr txBox="1"/>
          <p:nvPr/>
        </p:nvSpPr>
        <p:spPr>
          <a:xfrm>
            <a:off x="9509760" y="479145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3.00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1417320" y="5166360"/>
            <a:ext cx="1463040" cy="411480"/>
          </a:xfrm>
          <a:prstGeom prst="rect">
            <a:avLst/>
          </a:prstGeom>
          <a:solidFill>
            <a:srgbClr val="0E15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31" name="TextBox 130"/>
          <p:cNvSpPr txBox="1"/>
          <p:nvPr/>
        </p:nvSpPr>
        <p:spPr>
          <a:xfrm>
            <a:off x="1463040" y="522122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FA68F"/>
                </a:solidFill>
                <a:latin typeface="JetBrains Mono"/>
              </a:rPr>
              <a:t>+4 TO +5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880360" y="5166360"/>
            <a:ext cx="1325880" cy="411480"/>
          </a:xfrm>
          <a:prstGeom prst="rect">
            <a:avLst/>
          </a:prstGeom>
          <a:solidFill>
            <a:srgbClr val="111A11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33" name="Rectangle 132"/>
          <p:cNvSpPr/>
          <p:nvPr/>
        </p:nvSpPr>
        <p:spPr>
          <a:xfrm>
            <a:off x="4206240" y="5166360"/>
            <a:ext cx="1325880" cy="411480"/>
          </a:xfrm>
          <a:prstGeom prst="rect">
            <a:avLst/>
          </a:prstGeom>
          <a:solidFill>
            <a:srgbClr val="83AE50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4206240" y="520293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3.00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5532120" y="5166360"/>
            <a:ext cx="1325880" cy="411480"/>
          </a:xfrm>
          <a:prstGeom prst="rect">
            <a:avLst/>
          </a:prstGeom>
          <a:solidFill>
            <a:srgbClr val="83AE50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5532120" y="520293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3.00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6858000" y="5166360"/>
            <a:ext cx="1325880" cy="411480"/>
          </a:xfrm>
          <a:prstGeom prst="rect">
            <a:avLst/>
          </a:prstGeom>
          <a:solidFill>
            <a:srgbClr val="82AD4F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38" name="TextBox 137"/>
          <p:cNvSpPr txBox="1"/>
          <p:nvPr/>
        </p:nvSpPr>
        <p:spPr>
          <a:xfrm>
            <a:off x="6858000" y="520293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2.97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183879" y="5166360"/>
            <a:ext cx="1325880" cy="411480"/>
          </a:xfrm>
          <a:prstGeom prst="rect">
            <a:avLst/>
          </a:prstGeom>
          <a:solidFill>
            <a:srgbClr val="83AE50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40" name="TextBox 139"/>
          <p:cNvSpPr txBox="1"/>
          <p:nvPr/>
        </p:nvSpPr>
        <p:spPr>
          <a:xfrm>
            <a:off x="8183879" y="520293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3.00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9509760" y="5166360"/>
            <a:ext cx="1325880" cy="411480"/>
          </a:xfrm>
          <a:prstGeom prst="rect">
            <a:avLst/>
          </a:prstGeom>
          <a:solidFill>
            <a:srgbClr val="83AE50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42" name="TextBox 141"/>
          <p:cNvSpPr txBox="1"/>
          <p:nvPr/>
        </p:nvSpPr>
        <p:spPr>
          <a:xfrm>
            <a:off x="9509760" y="520293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3.00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Showing GD ∈ [−4, +4]; the full table covers [−7, +7]. Cells brighten with expected points.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AGGREGATE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Where the expected points get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cashed in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39932"/>
            <a:ext cx="10972800" cy="41896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Sum of (ep_collected × n) across every transition, per minute bin. The last 15 minutes deliver ~1.6× the value of the first.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0 →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The opener: worth more the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longer it took</a:t>
            </a:r>
            <a:r>
              <a:rPr sz="3200" b="0" i="0">
                <a:solidFill>
                  <a:srgbClr val="E8EFE8"/>
                </a:solidFill>
                <a:latin typeface="Instrument Serif"/>
              </a:rPr>
              <a:t> to arrive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39932"/>
            <a:ext cx="10972800" cy="41896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EP collected from a 0→1 goal by minute bin. Late opener (1.68 EP) is 2.1× the early one (0.79 EP).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LEADERBOARD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Top 10 EP collectors · Goals + Assists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879" y="1463040"/>
            <a:ext cx="10617200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All leagues, all seasons pooled. Goals + assists combined; players pooled across team transfers (primary team labelled).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SPOTLIGHT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The biggest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time-aware</a:t>
            </a:r>
            <a:r>
              <a:rPr sz="3200" b="0" i="0">
                <a:solidFill>
                  <a:srgbClr val="E8EFE8"/>
                </a:solidFill>
                <a:latin typeface="Instrument Serif"/>
              </a:rPr>
              <a:t> upgrade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5486400" cy="4343400"/>
          </a:xfrm>
          <a:prstGeom prst="rect">
            <a:avLst/>
          </a:prstGeom>
          <a:solidFill>
            <a:srgbClr val="111A11"/>
          </a:solidFill>
          <a:ln w="19050">
            <a:solidFill>
              <a:srgbClr val="C1F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68680" y="164592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BIGGEST GAINER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96596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Mário Rui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517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FA68F"/>
                </a:solidFill>
                <a:latin typeface="JetBrains Mono"/>
              </a:rPr>
              <a:t>Napoli  ·  28 G+A pooled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46120"/>
            <a:ext cx="502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0" i="0">
                <a:solidFill>
                  <a:srgbClr val="C1FF72"/>
                </a:solidFill>
                <a:latin typeface="Instrument Serif"/>
              </a:rPr>
              <a:t>+3.43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2976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Δ EP FROM TIME-AWARE RE-RATING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6177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FA68F"/>
                </a:solidFill>
                <a:latin typeface="JetBrains Mono"/>
              </a:rPr>
              <a:t>(24.11 timed  −  20.68 untimed)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60020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TOP 5 UPGRADES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1965960"/>
            <a:ext cx="5212080" cy="12700"/>
          </a:xfrm>
          <a:prstGeom prst="rect">
            <a:avLst/>
          </a:prstGeom>
          <a:solidFill>
            <a:srgbClr val="1E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00800" y="210312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C1FF72"/>
                </a:solidFill>
                <a:latin typeface="JetBrains Mono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21031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EFE8"/>
                </a:solidFill>
                <a:latin typeface="DM Sans"/>
              </a:rPr>
              <a:t>Mário Rui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210312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C1FF72"/>
                </a:solidFill>
                <a:latin typeface="JetBrains Mono"/>
              </a:rPr>
              <a:t>+3.43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606039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735A"/>
                </a:solidFill>
                <a:latin typeface="JetBrains Mono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12280" y="2606039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FA68F"/>
                </a:solidFill>
                <a:latin typeface="DM Sans"/>
              </a:rPr>
              <a:t>Evann Guessand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2606039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+3.34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108959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735A"/>
                </a:solidFill>
                <a:latin typeface="JetBrains Mono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80" y="3108959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FA68F"/>
                </a:solidFill>
                <a:latin typeface="DM Sans"/>
              </a:rPr>
              <a:t>Cristian Tello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3108959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+2.82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611879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735A"/>
                </a:solidFill>
                <a:latin typeface="JetBrains Mono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2280" y="3611879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FA68F"/>
                </a:solidFill>
                <a:latin typeface="DM Sans"/>
              </a:rPr>
              <a:t>Adama Traoré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3611879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+2.69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114799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735A"/>
                </a:solidFill>
                <a:latin typeface="JetBrains Mono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12280" y="4114799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FA68F"/>
                </a:solidFill>
                <a:latin typeface="DM Sans"/>
              </a:rPr>
              <a:t>Youssoufa Moukoko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4114799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+2.58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Mostly assist-type credits (SCA1), not goals — landing unusually often late in the game.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IMPLICATIONS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What this changes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C1FF72"/>
                </a:solidFill>
                <a:latin typeface="Instrument Serif"/>
              </a:rPr>
              <a:t>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5087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Goals are not a unit — they are a function of state and time. EP-weighted rankings expose contribution patterns raw counts can't see.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C1FF72"/>
                </a:solidFill>
                <a:latin typeface="Instrument Serif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4231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Recruitment with leverage in mind: a player whose 12 goals are mostly late equalisers is materially different from one whose 12 are 4–0 cushions.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91840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C1FF72"/>
                </a:solidFill>
                <a:latin typeface="Instrument Serif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337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Squad-management: knowing which minute bins your forwards harvest from informs substitution timing and game-state-conditional roles.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06240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C1FF72"/>
                </a:solidFill>
                <a:latin typeface="Instrument Serif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251959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Coaching: late-minute defending decisions get a clean valuation — the equaliser you concede in the 88th minute costs far more than the one in the 18th.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What this isn't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C1FF72"/>
                </a:solidFill>
                <a:latin typeface="Instrument Serif"/>
              </a:rPr>
              <a:t>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5087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Not xG-weighted. A tap-in and a 30-yard volley count the same.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C1FF72"/>
                </a:solidFill>
                <a:latin typeface="Instrument Serif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4231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Penalties are not separated from open play, and own goals are missing from the shot data.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91840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C1FF72"/>
                </a:solidFill>
                <a:latin typeface="Instrument Serif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337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Assist credit caps at SCA1 — build-up beyond the first shot-creating action isn't captured.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06240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C1FF72"/>
                </a:solidFill>
                <a:latin typeface="Instrument Serif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251959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Observational, not causal: it values the gap between states, not the goal's incremental effect on the final outcome.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120640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C1FF72"/>
                </a:solidFill>
                <a:latin typeface="Instrument Serif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5166359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Pooled value function across leagues — per-league calibration available in the dashboard.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Full discussion: methodology.html · §5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0" i="0">
                <a:solidFill>
                  <a:srgbClr val="E8EFE8"/>
                </a:solidFill>
                <a:latin typeface="Instrument Serif"/>
              </a:rPr>
              <a:t>Want every cell, every league, every season?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28600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40080" y="2834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Full methodology, source code and data: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832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0" i="0">
                <a:solidFill>
                  <a:srgbClr val="C1FF72"/>
                </a:solidFill>
                <a:latin typeface="Instrument Serif"/>
              </a:rPr>
              <a:t>renball.com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FA68F"/>
                </a:solidFill>
                <a:latin typeface="JetBrains Mono"/>
              </a:rPr>
              <a:t>/PROJECTS/02-POINTS-BY-GAMESTATE/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37760"/>
            <a:ext cx="10972800" cy="2971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735A"/>
                </a:solidFill>
                <a:latin typeface="JetBrains Mono"/>
              </a:rPr>
              <a:t>→ analysis.html        editorial write-up with five Chart.js + D3 visuals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234940"/>
            <a:ext cx="10972800" cy="2971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735A"/>
                </a:solidFill>
                <a:latin typeface="JetBrains Mono"/>
              </a:rPr>
              <a:t>→ dashboard.html       full interactive Tabulator dashboard, six datasets, drill-down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532120"/>
            <a:ext cx="10972800" cy="2971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735A"/>
                </a:solidFill>
                <a:latin typeface="JetBrains Mono"/>
              </a:rPr>
              <a:t>→ methodology.html     formal write-up — state-value math, attribution, eight limitations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29300"/>
            <a:ext cx="10972800" cy="2971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735A"/>
                </a:solidFill>
                <a:latin typeface="JetBrains Mono"/>
              </a:rPr>
              <a:t>→ code/build.py        Python pipeline from raw pickles to JSON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