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1FF72"/>
                </a:solidFill>
                <a:latin typeface="JetBrains Mono"/>
              </a:rPr>
              <a:t>RESEARCH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E8EFE8"/>
                </a:solidFill>
                <a:latin typeface="Instrument Serif"/>
              </a:rPr>
              <a:t>Should the Fouled Player Take the Penalty </a:t>
            </a:r>
            <a:r>
              <a:rPr sz="5400" b="0" i="1">
                <a:solidFill>
                  <a:srgbClr val="C1FF72"/>
                </a:solidFill>
                <a:latin typeface="Instrument Serif"/>
              </a:rPr>
              <a:t>Himself</a:t>
            </a:r>
            <a:r>
              <a:rPr sz="5400" b="0" i="0">
                <a:solidFill>
                  <a:srgbClr val="E8EFE8"/>
                </a:solidFill>
                <a:latin typeface="Instrument Serif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A68F"/>
                </a:solidFill>
                <a:latin typeface="JetBrains Mono"/>
              </a:rPr>
              <a:t>A ONE-TAILED Z-TEST · TOP 5 EUROPEAN LEAGUES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OCTOBER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6235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Three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sentences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THE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399032"/>
            <a:ext cx="8503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8EFE8"/>
                </a:solidFill>
                <a:latin typeface="Instrument Serif"/>
              </a:rPr>
              <a:t>When a goalkeeper fouls a player who then takes the penalty himself, does conversion drop?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THE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816352"/>
            <a:ext cx="8503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8EFE8"/>
                </a:solidFill>
                <a:latin typeface="Instrument Serif"/>
              </a:rPr>
              <a:t>One-tailed two-proportion z-test. Treatment n = 79 (75.95%). Control n = 3,456 (78.96%).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2976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THE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233672"/>
            <a:ext cx="8503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8EFE8"/>
                </a:solidFill>
                <a:latin typeface="Instrument Serif"/>
              </a:rPr>
              <a:t>Δ = −3.01 pp (95% CI −13.6 to +5.2): the predicted direction, but p = 0.258: not detectable. Every check agrees (−3.25 pp after controls).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THE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Why we'd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expect</a:t>
            </a:r>
            <a:r>
              <a:rPr sz="3200" b="0" i="0">
                <a:solidFill>
                  <a:srgbClr val="E8EFE8"/>
                </a:solidFill>
                <a:latin typeface="Instrument Serif"/>
              </a:rPr>
              <a:t> a drop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E8EFE8"/>
                </a:solidFill>
                <a:latin typeface="Instrument Serif"/>
              </a:rPr>
              <a:t>The just-fouled player walks straight to the spot.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548640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Theory of the taker: physically jarred (body contact, hit the ground, adrenaline). Emotionally agitated, narrowed focus.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521208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Theory of the keeper: locked in. The foul that gave the penalty was his fault. Nothing left to lose. Maximum motivation.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1FF72"/>
                </a:solidFill>
                <a:latin typeface="DM Sans"/>
              </a:rPr>
              <a:t>→ If both pull conversion down, the bench should hand the ball to a designated specialist.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What we built the test 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2606040" cy="146304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C1FF72"/>
                </a:solidFill>
                <a:latin typeface="Instrument Serif"/>
              </a:rPr>
              <a:t>4,110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23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PENALTIES (LOOSE FILTER)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606040" cy="146304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66160" y="160020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C1FF72"/>
                </a:solidFill>
                <a:latin typeface="Instrument Serif"/>
              </a:rPr>
              <a:t>3,535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23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LINKED PENALTIES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606040" cy="146304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C1FF72"/>
                </a:solidFill>
                <a:latin typeface="Instrument Serif"/>
              </a:rPr>
              <a:t>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23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TREATMENT-CELL 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463040"/>
            <a:ext cx="2606040" cy="146304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52559" y="160020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C1FF72"/>
                </a:solidFill>
                <a:latin typeface="Instrument Serif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2423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LEAGUES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46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FA68F"/>
                </a:solidFill>
                <a:latin typeface="DM Sans"/>
              </a:rPr>
              <a:t>Seasons in scope: 2017-2018 → 2023-2024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FA68F"/>
                </a:solidFill>
                <a:latin typeface="DM Sans"/>
              </a:rPr>
              <a:t>Competitions: Premier League, La Liga, Serie A, Bundesliga, Ligue 1.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FA68F"/>
                </a:solidFill>
                <a:latin typeface="DM Sans"/>
              </a:rPr>
              <a:t>Source: FBref player-match data, consolidated locally as FULL_DICT_ROWS.pkl.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Linked = the team took exactly one penalty in the match, so taker, fouled player and conceder are unambiguous.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One-tailed two-proportion z-test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372100" cy="4343400"/>
          </a:xfrm>
          <a:prstGeom prst="rect">
            <a:avLst/>
          </a:prstGeom>
          <a:solidFill>
            <a:srgbClr val="111A11"/>
          </a:solidFill>
          <a:ln w="19050">
            <a:solidFill>
              <a:srgbClr val="C1F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4914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TREATMENT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9149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8EFE8"/>
                </a:solidFill>
                <a:latin typeface="Instrument Serif"/>
              </a:rPr>
              <a:t>GK fouled the taker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91490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A68F"/>
                </a:solidFill>
                <a:latin typeface="DM Sans"/>
              </a:rPr>
              <a:t>Penalties where the goalkeeper conceded the foul AND the fouled player took the penalty himself.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0780" y="1463040"/>
            <a:ext cx="5372100" cy="4343400"/>
          </a:xfrm>
          <a:prstGeom prst="rect">
            <a:avLst/>
          </a:prstGeom>
          <a:solidFill>
            <a:srgbClr val="111A11"/>
          </a:solidFill>
          <a:ln w="9525">
            <a:solidFill>
              <a:srgbClr val="2D3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69380" y="1645920"/>
            <a:ext cx="4914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A68F"/>
                </a:solidFill>
                <a:latin typeface="JetBrains Mono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9380" y="1965960"/>
            <a:ext cx="49149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8EFE8"/>
                </a:solidFill>
                <a:latin typeface="Instrument Serif"/>
              </a:rPr>
              <a:t>All other penalties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9380" y="2834640"/>
            <a:ext cx="491490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A68F"/>
                </a:solidFill>
                <a:latin typeface="DM Sans"/>
              </a:rPr>
              <a:t>Every other linked penalty: GK conceded but someone else took it, outfielder conceded (any taker), or no foul recorded (e.g. handball).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H₀: conversion_treatment = conversion_control   ·   H₁: conversion_treatment &lt; conversion_control (one-tailed, α = 0.05)   ·   95% Wilson CIs · statsmodels.proportions_ztest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Conversion rate by league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90056"/>
            <a:ext cx="10972800" cy="428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Across the top 5 leagues conversion clusters tightly in the high 70s: league of origin is not a major source of variation. Dots: rate; lines: 95% Wilson intervals.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Conversion across seasons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90056"/>
            <a:ext cx="10972800" cy="428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Season rates run from 72.59% (2017-2018) to 80.79% (2021-2022); the lowest is dropped in a sensitivity 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PRIMARY TEST · ONE-TAILED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Treatment vs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766560" cy="4343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80960" y="1463040"/>
            <a:ext cx="3931920" cy="4343400"/>
          </a:xfrm>
          <a:prstGeom prst="rect">
            <a:avLst/>
          </a:prstGeom>
          <a:solidFill>
            <a:srgbClr val="111A11"/>
          </a:solidFill>
          <a:ln w="19050">
            <a:solidFill>
              <a:srgbClr val="C1F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909560" y="16459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TREATMENT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192024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C1FF72"/>
                </a:solidFill>
                <a:latin typeface="Instrument Serif"/>
              </a:rPr>
              <a:t>75.95%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5146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FA68F"/>
                </a:solidFill>
                <a:latin typeface="JetBrains Mono"/>
              </a:rPr>
              <a:t>n = 79  ·  95% CI [65.46%, 84.03%]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97180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32461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C1FF72"/>
                </a:solidFill>
                <a:latin typeface="Instrument Serif"/>
              </a:rPr>
              <a:t>78.96%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840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8FA68F"/>
                </a:solidFill>
                <a:latin typeface="JetBrains Mono"/>
              </a:rPr>
              <a:t>n = 3,456  ·  95% CI [77.57%, 80.29%]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4343400"/>
            <a:ext cx="3474720" cy="12700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909560" y="448056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8EFE8"/>
                </a:solidFill>
                <a:latin typeface="JetBrains Mono"/>
              </a:rPr>
              <a:t>Δ = -3.01 pp   z = -0.649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8920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1FF72"/>
                </a:solidFill>
                <a:latin typeface="JetBrains Mono"/>
              </a:rPr>
              <a:t>p = 0.2581 (one-tailed)  ·  Fail to reject H₀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Lines: 95% Wilson intervals. Difference 95% CI -13.6 to +5.2 pp; smallest detectable drop ≈ 12.6 pp (80% power).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Does it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hold up</a:t>
            </a:r>
            <a:r>
              <a:rPr sz="3200" b="0" i="0">
                <a:solidFill>
                  <a:srgbClr val="E8EFE8"/>
                </a:solidFill>
                <a:latin typeface="Instrument Serif"/>
              </a:rPr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79" y="1463040"/>
            <a:ext cx="1061720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Bars: 95% intervals (adjusted row: cluster bootstrap over takers). Shaded: ±5 pp = no practical difference. Every check straddles zero.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BOUNDING THE NULL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Not significant isn't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no effect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505200" cy="4343400"/>
          </a:xfrm>
          <a:prstGeom prst="rect">
            <a:avLst/>
          </a:prstGeom>
          <a:solidFill>
            <a:srgbClr val="111A11"/>
          </a:solidFill>
          <a:ln w="9525">
            <a:solidFill>
              <a:srgbClr val="2D3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304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C1FF72"/>
                </a:solidFill>
                <a:latin typeface="Instrument Serif"/>
              </a:rPr>
              <a:t>12.6 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304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SMALLEST DROP WE'D RELIABLY 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91840"/>
            <a:ext cx="304800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A68F"/>
                </a:solidFill>
                <a:latin typeface="DM Sans"/>
              </a:rPr>
              <a:t>80% power, one-tailed 5% test. The observed gap (−3.01 pp) sits inside this blind spot.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3880" y="1463040"/>
            <a:ext cx="3505200" cy="4343400"/>
          </a:xfrm>
          <a:prstGeom prst="rect">
            <a:avLst/>
          </a:prstGeom>
          <a:solidFill>
            <a:srgbClr val="111A11"/>
          </a:solidFill>
          <a:ln w="9525">
            <a:solidFill>
              <a:srgbClr val="2D3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02480" y="1691640"/>
            <a:ext cx="304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C1FF72"/>
                </a:solidFill>
                <a:latin typeface="Instrument Serif"/>
              </a:rPr>
              <a:t>11.8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2480" y="2697480"/>
            <a:ext cx="304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BIGGEST DROP THE DATA CAN'T RULE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2480" y="3291840"/>
            <a:ext cx="304800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A68F"/>
                </a:solidFill>
                <a:latin typeface="DM Sans"/>
              </a:rPr>
              <a:t>Equivalence within ±5 pp fails (90% CI −11.8 to +4.0, p = 0.34), and so does ±10 pp (p = 0.07). ±5 pp is more than the established taker's +1.74 pp edge. Margins set after the analysis.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7680" y="1463040"/>
            <a:ext cx="3505200" cy="4343400"/>
          </a:xfrm>
          <a:prstGeom prst="rect">
            <a:avLst/>
          </a:prstGeom>
          <a:solidFill>
            <a:srgbClr val="111A11"/>
          </a:solidFill>
          <a:ln w="9525">
            <a:solidFill>
              <a:srgbClr val="2D3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36280" y="1691640"/>
            <a:ext cx="3048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0">
                <a:solidFill>
                  <a:srgbClr val="C1FF72"/>
                </a:solidFill>
                <a:latin typeface="Instrument Serif"/>
              </a:rPr>
              <a:t>76.8%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6280" y="2697480"/>
            <a:ext cx="3048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CHANCE THE FOULED TAKER CONVERTS LESS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6280" y="3291840"/>
            <a:ext cx="304800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A68F"/>
                </a:solidFill>
                <a:latin typeface="DM Sans"/>
              </a:rPr>
              <a:t>Bayesian, flat priors. 37.4% chance the drop exceeds 5 pp; 95% credible interval −13.7 to +5.2 pp.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The data lean towards a drop, can't rule out a large one, and can't rule out none.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THE TAKER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Is it the foul, or the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taker</a:t>
            </a:r>
            <a:r>
              <a:rPr sz="3200" b="0" i="0">
                <a:solidFill>
                  <a:srgbClr val="E8EFE8"/>
                </a:solidFill>
                <a:latin typeface="Instrument Serif"/>
              </a:rPr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372100" cy="4343400"/>
          </a:xfrm>
          <a:prstGeom prst="rect">
            <a:avLst/>
          </a:prstGeom>
          <a:solidFill>
            <a:srgbClr val="111A11"/>
          </a:solidFill>
          <a:ln w="19050">
            <a:solidFill>
              <a:srgbClr val="C1F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4914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THE ESTABLISHED TAKER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9149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8EFE8"/>
                </a:solidFill>
                <a:latin typeface="Instrument Serif"/>
              </a:rPr>
              <a:t>+1.74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91490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A68F"/>
                </a:solidFill>
                <a:latin typeface="DM Sans"/>
              </a:rPr>
              <a:t>Edge of the team's established taker (most penalties for the club before the match) over other takers: 95% CI −1.3 to +4.7. He took 35.4% of treatment kicks vs 30.6% of the rest.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0780" y="1463040"/>
            <a:ext cx="5372100" cy="4343400"/>
          </a:xfrm>
          <a:prstGeom prst="rect">
            <a:avLst/>
          </a:prstGeom>
          <a:solidFill>
            <a:srgbClr val="111A11"/>
          </a:solidFill>
          <a:ln w="9525">
            <a:solidFill>
              <a:srgbClr val="2D3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69380" y="1645920"/>
            <a:ext cx="4914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A68F"/>
                </a:solidFill>
                <a:latin typeface="JetBrains Mono"/>
              </a:rPr>
              <a:t>THE TAKER'S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9380" y="1965960"/>
            <a:ext cx="49149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8EFE8"/>
                </a:solidFill>
                <a:latin typeface="Instrument Serif"/>
              </a:rPr>
              <a:t>−0.08 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9380" y="2834640"/>
            <a:ext cx="491490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A68F"/>
                </a:solidFill>
                <a:latin typeface="DM Sans"/>
              </a:rPr>
              <a:t>Split-half, 126 takers with 10+ kicks (95% CI −0.47 to 0.18). A taker's hit rate on alternate kicks says nothing useful about the rest: penalty records behave like noise at these sample sizes.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Define the taker from the whole season instead and the edge jumps to +11.37 pp, largely the outcome leaking in: takers who miss lose the job.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2×2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Where the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treatment cell</a:t>
            </a:r>
            <a:r>
              <a:rPr sz="3200" b="0" i="0">
                <a:solidFill>
                  <a:srgbClr val="E8EFE8"/>
                </a:solidFill>
                <a:latin typeface="Instrument Serif"/>
              </a:rPr>
              <a:t> sits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Rectangle 5"/>
          <p:cNvSpPr/>
          <p:nvPr/>
        </p:nvSpPr>
        <p:spPr>
          <a:xfrm>
            <a:off x="1325880" y="1463040"/>
            <a:ext cx="2286000" cy="640080"/>
          </a:xfrm>
          <a:prstGeom prst="rect">
            <a:avLst/>
          </a:prstGeom>
          <a:solidFill>
            <a:srgbClr val="0E150E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Rectangle 6"/>
          <p:cNvSpPr/>
          <p:nvPr/>
        </p:nvSpPr>
        <p:spPr>
          <a:xfrm>
            <a:off x="3611880" y="1463040"/>
            <a:ext cx="3657600" cy="640080"/>
          </a:xfrm>
          <a:prstGeom prst="rect">
            <a:avLst/>
          </a:prstGeom>
          <a:solidFill>
            <a:srgbClr val="0E150E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703320" y="16459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FA68F"/>
                </a:solidFill>
                <a:latin typeface="JetBrains Mono"/>
              </a:rPr>
              <a:t>GOALKEEPER CAUSED THE FOUL</a:t>
            </a:r>
          </a:p>
        </p:txBody>
      </p:sp>
      <p:sp>
        <p:nvSpPr>
          <p:cNvPr id="9" name="Rectangle 8"/>
          <p:cNvSpPr/>
          <p:nvPr/>
        </p:nvSpPr>
        <p:spPr>
          <a:xfrm>
            <a:off x="7269480" y="1463040"/>
            <a:ext cx="3657600" cy="640080"/>
          </a:xfrm>
          <a:prstGeom prst="rect">
            <a:avLst/>
          </a:prstGeom>
          <a:solidFill>
            <a:srgbClr val="0E150E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60920" y="16459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FA68F"/>
                </a:solidFill>
                <a:latin typeface="JetBrains Mono"/>
              </a:rPr>
              <a:t>OUTFIELDER CAUSED THE FOUL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2103120"/>
            <a:ext cx="2286000" cy="1691640"/>
          </a:xfrm>
          <a:prstGeom prst="rect">
            <a:avLst/>
          </a:prstGeom>
          <a:solidFill>
            <a:srgbClr val="0E150E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463039" y="2766059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A68F"/>
                </a:solidFill>
                <a:latin typeface="JetBrains Mono"/>
              </a:rPr>
              <a:t>TAKER = THE PLAYER WHO WAS FOULED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11880" y="2103120"/>
            <a:ext cx="3657600" cy="1691640"/>
          </a:xfrm>
          <a:prstGeom prst="rect">
            <a:avLst/>
          </a:prstGeom>
          <a:solidFill>
            <a:srgbClr val="111A11"/>
          </a:solidFill>
          <a:ln w="25400">
            <a:solidFill>
              <a:srgbClr val="C1F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657600" y="2148839"/>
            <a:ext cx="3566160" cy="1600200"/>
          </a:xfrm>
          <a:prstGeom prst="rect">
            <a:avLst/>
          </a:prstGeom>
          <a:solidFill>
            <a:srgbClr val="1A2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749040" y="2240279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C1FF72"/>
                </a:solidFill>
                <a:latin typeface="JetBrains Mono"/>
              </a:rPr>
              <a:t>TREATMENT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5146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0">
                <a:solidFill>
                  <a:srgbClr val="C1FF72"/>
                </a:solidFill>
                <a:latin typeface="Instrument Serif"/>
              </a:rPr>
              <a:t>75.95%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154679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735A"/>
                </a:solidFill>
                <a:latin typeface="JetBrains Mono"/>
              </a:rPr>
              <a:t>N = 79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2103120"/>
            <a:ext cx="3657600" cy="169164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60920" y="251460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0">
                <a:solidFill>
                  <a:srgbClr val="C1FF72"/>
                </a:solidFill>
                <a:latin typeface="Instrument Serif"/>
              </a:rPr>
              <a:t>79.02%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3154679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735A"/>
                </a:solidFill>
                <a:latin typeface="JetBrains Mono"/>
              </a:rPr>
              <a:t>N = 491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5880" y="3794760"/>
            <a:ext cx="2286000" cy="1691640"/>
          </a:xfrm>
          <a:prstGeom prst="rect">
            <a:avLst/>
          </a:prstGeom>
          <a:solidFill>
            <a:srgbClr val="0E150E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463039" y="44577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A68F"/>
                </a:solidFill>
                <a:latin typeface="JetBrains Mono"/>
              </a:rPr>
              <a:t>TAKER = NOT THE FOULED PLAYER (INCL. HANDBALLS)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3794760"/>
            <a:ext cx="3657600" cy="169164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703320" y="420624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0">
                <a:solidFill>
                  <a:srgbClr val="C1FF72"/>
                </a:solidFill>
                <a:latin typeface="Instrument Serif"/>
              </a:rPr>
              <a:t>78.33%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8463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735A"/>
                </a:solidFill>
                <a:latin typeface="JetBrains Mono"/>
              </a:rPr>
              <a:t>N = 203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80" y="3794760"/>
            <a:ext cx="3657600" cy="169164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360920" y="420624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0">
                <a:solidFill>
                  <a:srgbClr val="C1FF72"/>
                </a:solidFill>
                <a:latin typeface="Instrument Serif"/>
              </a:rPr>
              <a:t>79.00%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48463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5A735A"/>
                </a:solidFill>
                <a:latin typeface="JetBrains Mono"/>
              </a:rPr>
              <a:t>N = 2,762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Accent-bordered cell = treatment. The other three pool into control.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PER-LEAGUE REPLICATION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The same test,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league by league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0" cy="12700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LEAGUE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630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T.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46304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T.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4630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C.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463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C. 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46304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1463040"/>
            <a:ext cx="1005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P (1-T)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146304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P (HOLM)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14630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SIG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874520"/>
            <a:ext cx="10972800" cy="12700"/>
          </a:xfrm>
          <a:prstGeom prst="rect">
            <a:avLst/>
          </a:prstGeom>
          <a:solidFill>
            <a:srgbClr val="1E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0080" y="20116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Serie 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0116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1">
                <a:solidFill>
                  <a:srgbClr val="5A735A"/>
                </a:solidFill>
                <a:latin typeface="JetBrains Mono"/>
              </a:rPr>
              <a:t>80.00%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20116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1">
                <a:solidFill>
                  <a:srgbClr val="5A735A"/>
                </a:solidFill>
                <a:latin typeface="JetBrains Mono"/>
              </a:rPr>
              <a:t>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0116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78.57%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011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812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0116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E8EFE8"/>
                </a:solidFill>
                <a:latin typeface="JetBrains Mono"/>
              </a:rPr>
              <a:t>+0.134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011680"/>
            <a:ext cx="1005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E8EFE8"/>
                </a:solidFill>
                <a:latin typeface="JetBrains Mono"/>
              </a:rPr>
              <a:t>0.5532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59" y="20116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E8EFE8"/>
                </a:solidFill>
                <a:latin typeface="JetBrains Mono"/>
              </a:rPr>
              <a:t>1.000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20116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735A"/>
                </a:solidFill>
                <a:latin typeface="JetBrains Mono"/>
              </a:rPr>
              <a:t>No · low 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4688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La Liga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24688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1">
                <a:solidFill>
                  <a:srgbClr val="5A735A"/>
                </a:solidFill>
                <a:latin typeface="JetBrains Mono"/>
              </a:rPr>
              <a:t>55.56%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24688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1">
                <a:solidFill>
                  <a:srgbClr val="5A735A"/>
                </a:solidFill>
                <a:latin typeface="JetBrains Mono"/>
              </a:rPr>
              <a:t>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24688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77.37%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4688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716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4688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E8EFE8"/>
                </a:solidFill>
                <a:latin typeface="JetBrains Mono"/>
              </a:rPr>
              <a:t>-2.167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2468880"/>
            <a:ext cx="1005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E8EFE8"/>
                </a:solidFill>
                <a:latin typeface="JetBrains Mono"/>
              </a:rPr>
              <a:t>0.0151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59" y="24688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E8EFE8"/>
                </a:solidFill>
                <a:latin typeface="JetBrains Mono"/>
              </a:rPr>
              <a:t>0.076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24688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735A"/>
                </a:solidFill>
                <a:latin typeface="JetBrains Mono"/>
              </a:rPr>
              <a:t>No · low 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29260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Premier League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29260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1">
                <a:solidFill>
                  <a:srgbClr val="5A735A"/>
                </a:solidFill>
                <a:latin typeface="JetBrains Mono"/>
              </a:rPr>
              <a:t>91.30%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31920" y="29260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1">
                <a:solidFill>
                  <a:srgbClr val="5A735A"/>
                </a:solidFill>
                <a:latin typeface="JetBrains Mono"/>
              </a:rPr>
              <a:t>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29260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79.63%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0" y="29260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599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29260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E8EFE8"/>
                </a:solidFill>
                <a:latin typeface="JetBrains Mono"/>
              </a:rPr>
              <a:t>+1.375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2926080"/>
            <a:ext cx="1005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E8EFE8"/>
                </a:solidFill>
                <a:latin typeface="JetBrains Mono"/>
              </a:rPr>
              <a:t>0.9154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59" y="29260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E8EFE8"/>
                </a:solidFill>
                <a:latin typeface="JetBrains Mono"/>
              </a:rPr>
              <a:t>1.000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29260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735A"/>
                </a:solidFill>
                <a:latin typeface="JetBrains Mono"/>
              </a:rPr>
              <a:t>No · low 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33832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Bundesliga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33832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1">
                <a:solidFill>
                  <a:srgbClr val="5A735A"/>
                </a:solidFill>
                <a:latin typeface="JetBrains Mono"/>
              </a:rPr>
              <a:t>60.00%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31920" y="33832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1">
                <a:solidFill>
                  <a:srgbClr val="5A735A"/>
                </a:solidFill>
                <a:latin typeface="JetBrains Mono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33832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79.83%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33832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575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49440" y="33832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E8EFE8"/>
                </a:solidFill>
                <a:latin typeface="JetBrains Mono"/>
              </a:rPr>
              <a:t>-1.539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3383280"/>
            <a:ext cx="1005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E8EFE8"/>
                </a:solidFill>
                <a:latin typeface="JetBrains Mono"/>
              </a:rPr>
              <a:t>0.0619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59" y="33832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E8EFE8"/>
                </a:solidFill>
                <a:latin typeface="JetBrains Mono"/>
              </a:rPr>
              <a:t>0.247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33832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735A"/>
                </a:solidFill>
                <a:latin typeface="JetBrains Mono"/>
              </a:rPr>
              <a:t>No · low 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3840480"/>
            <a:ext cx="20116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Ligue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0" y="38404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1">
                <a:solidFill>
                  <a:srgbClr val="5A735A"/>
                </a:solidFill>
                <a:latin typeface="JetBrains Mono"/>
              </a:rPr>
              <a:t>84.62%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31920" y="38404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1">
                <a:solidFill>
                  <a:srgbClr val="5A735A"/>
                </a:solidFill>
                <a:latin typeface="JetBrains Mono"/>
              </a:rPr>
              <a:t>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54880" y="38404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79.71%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38404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754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3840480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E8EFE8"/>
                </a:solidFill>
                <a:latin typeface="JetBrains Mono"/>
              </a:rPr>
              <a:t>+0.437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3840480"/>
            <a:ext cx="1005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E8EFE8"/>
                </a:solidFill>
                <a:latin typeface="JetBrains Mono"/>
              </a:rPr>
              <a:t>0.6689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59" y="38404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E8EFE8"/>
                </a:solidFill>
                <a:latin typeface="JetBrains Mono"/>
              </a:rPr>
              <a:t>1.000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41280" y="38404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5A735A"/>
                </a:solidFill>
                <a:latin typeface="JetBrains Mono"/>
              </a:rPr>
              <a:t>No · low 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Cells of 10–23. SIG = after a Holm correction for five tests (smallest adjusted p = 0.076).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Who should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394960" cy="208026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E8EFE8"/>
                </a:solidFill>
                <a:latin typeface="Instrument Serif"/>
              </a:rPr>
              <a:t>Coaches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6459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5A735A"/>
                </a:solidFill>
                <a:latin typeface="JetBrains Mono"/>
              </a:rPr>
              <a:t>TRAINING &amp; TACTICS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65960"/>
            <a:ext cx="4937760" cy="9525"/>
          </a:xfrm>
          <a:prstGeom prst="rect">
            <a:avLst/>
          </a:prstGeom>
          <a:solidFill>
            <a:srgbClr val="1E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868680" y="2112263"/>
            <a:ext cx="1188720" cy="219456"/>
          </a:xfrm>
          <a:prstGeom prst="rect">
            <a:avLst/>
          </a:prstGeom>
          <a:solidFill>
            <a:srgbClr val="111A11"/>
          </a:solidFill>
          <a:ln w="9525">
            <a:solidFill>
              <a:srgbClr val="2D3D2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960120" y="2171699"/>
            <a:ext cx="45720" cy="100584"/>
          </a:xfrm>
          <a:prstGeom prst="rect">
            <a:avLst/>
          </a:prstGeom>
          <a:solidFill>
            <a:srgbClr val="5A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8700" y="2171699"/>
            <a:ext cx="45720" cy="100584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097280" y="2171699"/>
            <a:ext cx="45720" cy="100584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34440" y="2112263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735A"/>
                </a:solidFill>
                <a:latin typeface="JetBrains Mono"/>
              </a:rPr>
              <a:t>EXPLORATORY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103120"/>
            <a:ext cx="361188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A68F"/>
                </a:solidFill>
                <a:latin typeface="DM Sans"/>
              </a:rPr>
              <a:t>Being the team's established taker adds little: +1.7 pp over other takers (−1.3 to +4.7).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674620"/>
            <a:ext cx="3611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735A"/>
                </a:solidFill>
                <a:latin typeface="JetBrains Mono"/>
              </a:rPr>
              <a:t>n = 1,085 vs 1,908 penalties · 95% CI includes zero · higher in 4 of 5 leagues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5394960" cy="208026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46520" y="157276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E8EFE8"/>
                </a:solidFill>
                <a:latin typeface="Instrument Serif"/>
              </a:rPr>
              <a:t>Managers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16459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5A735A"/>
                </a:solidFill>
                <a:latin typeface="JetBrains Mono"/>
              </a:rPr>
              <a:t>MATCH-DAY 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1965960"/>
            <a:ext cx="4937760" cy="9525"/>
          </a:xfrm>
          <a:prstGeom prst="rect">
            <a:avLst/>
          </a:prstGeom>
          <a:solidFill>
            <a:srgbClr val="1E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446520" y="2112263"/>
            <a:ext cx="1188720" cy="219456"/>
          </a:xfrm>
          <a:prstGeom prst="rect">
            <a:avLst/>
          </a:prstGeom>
          <a:solidFill>
            <a:srgbClr val="111A11"/>
          </a:solidFill>
          <a:ln w="9525">
            <a:solidFill>
              <a:srgbClr val="2D3D2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537960" y="2171699"/>
            <a:ext cx="45720" cy="100584"/>
          </a:xfrm>
          <a:prstGeom prst="rect">
            <a:avLst/>
          </a:prstGeom>
          <a:solidFill>
            <a:srgbClr val="5A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06540" y="2171699"/>
            <a:ext cx="45720" cy="100584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75120" y="2171699"/>
            <a:ext cx="45720" cy="100584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12280" y="2112263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735A"/>
                </a:solidFill>
                <a:latin typeface="JetBrains Mono"/>
              </a:rPr>
              <a:t>EXPLORATORY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103120"/>
            <a:ext cx="361188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A68F"/>
                </a:solidFill>
                <a:latin typeface="DM Sans"/>
              </a:rPr>
              <a:t>No case yet for taking the ball off a fouled player: −3.0 pp, plausibly anywhere from −13.6 to +5.2.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674620"/>
            <a:ext cx="3611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735A"/>
                </a:solidFill>
                <a:latin typeface="JetBrains Mono"/>
              </a:rPr>
              <a:t>n = 79 vs 3,456 penalties · p = 0.26 · −3.25 pp after controls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726180"/>
            <a:ext cx="5394960" cy="208026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68680" y="383590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E8EFE8"/>
                </a:solidFill>
                <a:latin typeface="Instrument Serif"/>
              </a:rPr>
              <a:t>Clubs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39090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5A735A"/>
                </a:solidFill>
                <a:latin typeface="JetBrains Mono"/>
              </a:rPr>
              <a:t>RECRUITMENT &amp; CONTRACTS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" y="4229100"/>
            <a:ext cx="4937760" cy="9525"/>
          </a:xfrm>
          <a:prstGeom prst="rect">
            <a:avLst/>
          </a:prstGeom>
          <a:solidFill>
            <a:srgbClr val="1E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868680" y="4375404"/>
            <a:ext cx="1188720" cy="219456"/>
          </a:xfrm>
          <a:prstGeom prst="rect">
            <a:avLst/>
          </a:prstGeom>
          <a:solidFill>
            <a:srgbClr val="111A11"/>
          </a:solidFill>
          <a:ln w="9525">
            <a:solidFill>
              <a:srgbClr val="8FB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60120" y="4434840"/>
            <a:ext cx="45720" cy="100584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1028700" y="4434840"/>
            <a:ext cx="45720" cy="100584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1097280" y="4434840"/>
            <a:ext cx="45720" cy="100584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234440" y="437540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C1FF72"/>
                </a:solidFill>
                <a:latin typeface="JetBrains Mono"/>
              </a:rPr>
              <a:t>MODERATE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94560" y="4366260"/>
            <a:ext cx="361188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A68F"/>
                </a:solidFill>
                <a:latin typeface="DM Sans"/>
              </a:rPr>
              <a:t>Don't pay for a penalty record: how a taker did on half his kicks didn't predict the other half.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94560" y="4937760"/>
            <a:ext cx="3611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735A"/>
                </a:solidFill>
                <a:latin typeface="JetBrains Mono"/>
              </a:rPr>
              <a:t>126 takers with 10+ kicks · split-half reliability −0.08 · 95% CI −0.47 to 0.18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726180"/>
            <a:ext cx="5394960" cy="208026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46520" y="383590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E8EFE8"/>
                </a:solidFill>
                <a:latin typeface="Instrument Serif"/>
              </a:rPr>
              <a:t>Agents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39090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5A735A"/>
                </a:solidFill>
                <a:latin typeface="JetBrains Mono"/>
              </a:rPr>
              <a:t>POSITIONING A PLAYER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46520" y="4229100"/>
            <a:ext cx="4937760" cy="9525"/>
          </a:xfrm>
          <a:prstGeom prst="rect">
            <a:avLst/>
          </a:prstGeom>
          <a:solidFill>
            <a:srgbClr val="1E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46520" y="43662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735A"/>
                </a:solidFill>
                <a:latin typeface="DM Sans"/>
              </a:rPr>
              <a:t>No defensible claim for this audience from this study.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97103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EVIDENCE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37360" y="5943600"/>
            <a:ext cx="1188720" cy="219456"/>
          </a:xfrm>
          <a:prstGeom prst="rect">
            <a:avLst/>
          </a:prstGeom>
          <a:solidFill>
            <a:srgbClr val="C1FF72"/>
          </a:solidFill>
          <a:ln w="9525">
            <a:solidFill>
              <a:srgbClr val="C1F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1828800" y="6003036"/>
            <a:ext cx="45720" cy="100584"/>
          </a:xfrm>
          <a:prstGeom prst="rect">
            <a:avLst/>
          </a:prstGeom>
          <a:solidFill>
            <a:srgbClr val="080C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1897380" y="6003036"/>
            <a:ext cx="45720" cy="100584"/>
          </a:xfrm>
          <a:prstGeom prst="rect">
            <a:avLst/>
          </a:prstGeom>
          <a:solidFill>
            <a:srgbClr val="080C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965960" y="6003036"/>
            <a:ext cx="45720" cy="100584"/>
          </a:xfrm>
          <a:prstGeom prst="rect">
            <a:avLst/>
          </a:prstGeom>
          <a:solidFill>
            <a:srgbClr val="080C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2103120" y="594360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80C08"/>
                </a:solidFill>
                <a:latin typeface="JetBrains Mono"/>
              </a:rPr>
              <a:t>STRONG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08960" y="5943600"/>
            <a:ext cx="1188720" cy="219456"/>
          </a:xfrm>
          <a:prstGeom prst="rect">
            <a:avLst/>
          </a:prstGeom>
          <a:solidFill>
            <a:srgbClr val="111A11"/>
          </a:solidFill>
          <a:ln w="9525">
            <a:solidFill>
              <a:srgbClr val="8FB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3200400" y="6003036"/>
            <a:ext cx="45720" cy="100584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3268980" y="6003036"/>
            <a:ext cx="45720" cy="100584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3337560" y="6003036"/>
            <a:ext cx="45720" cy="100584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474720" y="594360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C1FF72"/>
                </a:solidFill>
                <a:latin typeface="JetBrains Mono"/>
              </a:rPr>
              <a:t>MODERATE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80560" y="5943600"/>
            <a:ext cx="1188720" cy="219456"/>
          </a:xfrm>
          <a:prstGeom prst="rect">
            <a:avLst/>
          </a:prstGeom>
          <a:solidFill>
            <a:srgbClr val="111A11"/>
          </a:solidFill>
          <a:ln w="9525">
            <a:solidFill>
              <a:srgbClr val="2D3D2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4572000" y="6003036"/>
            <a:ext cx="45720" cy="100584"/>
          </a:xfrm>
          <a:prstGeom prst="rect">
            <a:avLst/>
          </a:prstGeom>
          <a:solidFill>
            <a:srgbClr val="5A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4640580" y="6003036"/>
            <a:ext cx="45720" cy="100584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4709160" y="6003036"/>
            <a:ext cx="45720" cy="100584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4846320" y="594360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735A"/>
                </a:solidFill>
                <a:latin typeface="JetBrains Mono"/>
              </a:rPr>
              <a:t>EXPLORATORY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5971032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Definitions: methodology § Evidence labels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What this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can't</a:t>
            </a:r>
            <a:r>
              <a:rPr sz="3200" b="0" i="0">
                <a:solidFill>
                  <a:srgbClr val="E8EFE8"/>
                </a:solidFill>
                <a:latin typeface="Instrument Serif"/>
              </a:rPr>
              <a:t> tell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1618488"/>
            <a:ext cx="82296" cy="8229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15087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Small treatment group: 79 penalties: a real drop below ~12.6 pp would usually go unseen.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32888"/>
            <a:ext cx="82296" cy="8229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Taking it is a choice: status, record and experience are controlled; nerve and knocks on the day are not.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447288"/>
            <a:ext cx="82296" cy="8229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"Fouled" is not "hurt": the data record who won the penalty, not whether he was injured.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361688"/>
            <a:ext cx="82296" cy="8229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51560" y="4251959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No minute, scoreline or goalkeeper in the model: the player-match table has neither.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276088"/>
            <a:ext cx="82296" cy="8229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51560" y="5166359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575 of 4,110 penalties can't be linked (mostly a team taking 2+ in a match).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What the data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says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The bench answer: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can't yet tell.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Conversion is 3.01 pp lower when the fouled player takes the kick himself (75.95% vs 78.96% for everyone else). The point estimate moves in the predicted direction, but the treatment cell is too small to rule chance out (p = 0.258, one-tailed). Every check lands in the same place (−3.25 pp after controls). With 79 such penalties the design only reliably detects a drop of about 12.6 pp, and the data can't rule out one as large as 11.8 pp.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C1FF72"/>
                </a:solidFill>
                <a:latin typeface="DM Sans"/>
              </a:rPr>
              <a:t>→ No statistical warrant to override the fouled player who wants to take it himself. Equally, no clean evidence he's at full strength.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E8EFE8"/>
                </a:solidFill>
                <a:latin typeface="Instrument Serif"/>
              </a:rPr>
              <a:t>Full methodology, source code and data: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Full methodology, source code and data: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0">
                <a:solidFill>
                  <a:srgbClr val="C1FF72"/>
                </a:solidFill>
                <a:latin typeface="Instrument Serif"/>
              </a:rPr>
              <a:t>renball.com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A68F"/>
                </a:solidFill>
                <a:latin typeface="JetBrains Mono"/>
              </a:rPr>
              <a:t>/PROJECTS/01-PENALTY-ANALYSIS/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0972800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35A"/>
                </a:solidFill>
                <a:latin typeface="JetBrains Mono"/>
              </a:rPr>
              <a:t>→ methodology      formal H₀ / H₁, test assumptions,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34000"/>
            <a:ext cx="10972800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35A"/>
                </a:solidFill>
                <a:latin typeface="JetBrains Mono"/>
              </a:rPr>
              <a:t>→ analysis.html    interactive dashboard, live numbers from data.json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30240"/>
            <a:ext cx="10972800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35A"/>
                </a:solidFill>
                <a:latin typeface="JetBrains Mono"/>
              </a:rPr>
              <a:t>→ code/build.py    Python pipeline: raw pickles → aggregated 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