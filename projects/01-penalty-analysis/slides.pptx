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728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Should the Fouled Player Take the Penalty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Himself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6634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ONE-TAILED TEST · TOP 5 EUROPEAN LEAGUES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2026-05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4864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RENBALL.COM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Three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679192"/>
            <a:ext cx="8595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When a goalkeeper fouls a player who then takes the penalty himself, does conversion drop?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867911"/>
            <a:ext cx="8595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One-tailed two-proportion z-test. Treatment n = 100 (75.0%). Control n = 3,757 (78.25%).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056631"/>
            <a:ext cx="8595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Δ = -3.25 pp (predicted direction) but p = 0.218, one-tailed — fail to reject H₀ at the available power.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THE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Why we'd expect a drop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The just-fouled player walks straight to the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54864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taker: physically jarred — body contact, hit the ground, adrenaline. Emotionally agitated, narrowed focus.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657600"/>
            <a:ext cx="54864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keeper: locked in. The foul that gave the penalty was his fault. Nothing left to lose. Maximum motivation.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If both pull conversion down, the bench should hand the ball to a designated specialist.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What we built the test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4,110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03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PENALTIES (LOOSE FILTER)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74320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66160" y="28803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3,322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703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SINGLE-PENALTY MATCHES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74320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28803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703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TREATMENT-CELL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274320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59" y="28803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37033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Seasons in scope: 2017-2018 → 2023-2024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Competitions: Premier League, La Liga, Serie A, Bundesliga, Ligue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Source: FBref player-match data, consolidated locally as FULL_DICT_ROWS.pkl.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735A"/>
                </a:solidFill>
                <a:latin typeface="JetBrains Mono"/>
              </a:rPr>
              <a:t>Strict filter = matches with at most one penalty event (unambiguous GK-caused / taker-was-fouled attribution).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One-tailed two-proportion z-test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5394960" cy="246888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GK fouled the taker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977639"/>
            <a:ext cx="50292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Matches where the goalkeeper conceded the foul AND the fouled player is the same player who took the penalty.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43200"/>
            <a:ext cx="5394960" cy="246888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292608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4612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All other penalties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Every other strict-filter match — GK fouled but a different player took, or outfielder caused the foul (any taker).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H₀: conversion_treatment = conversion_control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1FF72"/>
                </a:solidFill>
                <a:latin typeface="JetBrains Mono"/>
              </a:rPr>
              <a:t>H₁: conversion_treatment &lt; conversion_control     (one-tailed, α = 0.05)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95% Wilson CIs on each proportion. Implementation: statsmodels.proportions_ztest(alternative='smaller').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Conversion rate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95" y="2270760"/>
            <a:ext cx="8853773" cy="3733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Across the top 5 leagues conversion clusters tightly in the high 70s — league of origin is not a major source of variation.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Conversion across 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45898"/>
            <a:ext cx="8287327" cy="38094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Year-on-year stability is high — the ~77–80% band holds across the period in scope.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PRIMARY TEST · ONE-TAILED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" y="2423705"/>
            <a:ext cx="5314406" cy="331107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2651760"/>
            <a:ext cx="4114800" cy="352044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09560" y="28346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310896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75.00%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37033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100  ·  95% CI [65.70%, 82.45%]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4160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443484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78.25%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50292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3,757  ·  95% CI [76.91%, 79.54%]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5532120"/>
            <a:ext cx="36576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562356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8EFE8"/>
                </a:solidFill>
                <a:latin typeface="JetBrains Mono"/>
              </a:rPr>
              <a:t>Δ = -3.25 pp   z = -0.777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8978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p = 0.2185 (one-tailed)  ·  Fail to reject H₀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Whiskers: 95% Wilson confidence intervals. Treatment CI is wide — n is the binding constraint.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2×2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Where the treatment cell 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296885"/>
            <a:ext cx="22860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926080" y="2296885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17520" y="2479765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GOALKEEPER CAUSED THE FOUL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296885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2479765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OUTFIELDER CAUSED THE FOUL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36965"/>
            <a:ext cx="2286000" cy="15544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31324"/>
            <a:ext cx="20116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THE PLAYER WHO WAS FOULED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2936965"/>
            <a:ext cx="3657600" cy="1554480"/>
          </a:xfrm>
          <a:prstGeom prst="rect">
            <a:avLst/>
          </a:prstGeom>
          <a:solidFill>
            <a:srgbClr val="111A11"/>
          </a:solidFill>
          <a:ln w="2540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71800" y="2982685"/>
            <a:ext cx="3566160" cy="1463039"/>
          </a:xfrm>
          <a:prstGeom prst="rect">
            <a:avLst/>
          </a:prstGeom>
          <a:solidFill>
            <a:srgbClr val="1A2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3074125"/>
            <a:ext cx="338328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348445"/>
            <a:ext cx="347472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75.00%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988525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100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936965"/>
            <a:ext cx="3657600" cy="155448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0" y="3348445"/>
            <a:ext cx="347472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0" i="0" dirty="0">
                <a:solidFill>
                  <a:srgbClr val="C1FF72"/>
                </a:solidFill>
                <a:latin typeface="Instrument Serif"/>
              </a:rPr>
              <a:t>78.87%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988525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549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91445"/>
            <a:ext cx="2286000" cy="15544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5085805"/>
            <a:ext cx="201168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A DIFFERENT PLAYER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491445"/>
            <a:ext cx="3657600" cy="155448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17520" y="4902925"/>
            <a:ext cx="347472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78.11%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543005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265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491445"/>
            <a:ext cx="3657600" cy="155448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4902925"/>
            <a:ext cx="347472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543005"/>
            <a:ext cx="34747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2,943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Accent-bordered cell = treatment. The other three pool into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PER-LEAGUE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The same test, league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2651760"/>
            <a:ext cx="1060704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LEAGUE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69748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269748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9" y="269748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9748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269748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799" y="269748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 (1-T)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9" y="269748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SIG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08960"/>
            <a:ext cx="1060704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2461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80.95%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32461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32461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77.70%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461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32461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+0.354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799" y="32461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0.6383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32461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7033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7033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57.89%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37033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9" y="37033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77.46%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7033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19" y="37033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-2.003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799" y="37033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0.0226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9" y="37033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C1FF72"/>
                </a:solidFill>
                <a:latin typeface="JetBrains Mono"/>
              </a:rPr>
              <a:t>Yes · low 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1605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41605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88.00%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79" y="41605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79" y="41605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78.59%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1605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19" y="41605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+1.131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799" y="41605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0.8710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9" y="41605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46177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46177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61.54%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79" y="46177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79" y="46177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78.18%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6177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614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19" y="46177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-1.429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799" y="46177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0.0765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59" y="46177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074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0749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77.27%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79" y="5074920"/>
            <a:ext cx="822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9" y="50749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79.42%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50749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19" y="5074920"/>
            <a:ext cx="1005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-0.245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799" y="50749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0.4030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59" y="5074920"/>
            <a:ext cx="11887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Per-league treatment cells of 13–25 leave each test severely underpowered. Verdicts cell-by-cell are essentially noise.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649224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Pooled test is the only inference to take seriously.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What the data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bench answer: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 yet tell.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Conversion is 3.25 pp lower when the fouled player takes the kick himself (75.00% vs 78.25% for everyone else). The point estimate moves in the predicted direction, but the treatment cell is too small to rule chance out (p = 0.218, one-tailed).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No statistical warrant to override the fouled player who wants to take it himself. Equally, no clean evidence he's at full strength.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92608"/>
            <a:ext cx="182880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000">
                <a:solidFill>
                  <a:srgbClr val="E8EFE8"/>
                </a:solidFill>
                <a:latin typeface="Instrument Serif"/>
              </a:rPr>
              <a:t>ren</a:t>
            </a:r>
            <a:r>
              <a:rPr sz="20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SOURCES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0" i="0">
                <a:solidFill>
                  <a:srgbClr val="E8EFE8"/>
                </a:solidFill>
                <a:latin typeface="Instrument Serif"/>
              </a:rPr>
              <a:t>Reproduce or dig deeper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/PROJECTS/01-PENALTY-ANALYSIS/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methodology.pdf  ·  formal H₀/H₁, test assumptions,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·  interactive dashboard, live numbers from data.json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·  Python pipeline from raw pickles to aggregated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Data source: FBref player-match statistics, top 5 European leagues.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853</Words>
  <Application>Microsoft Office PowerPoint</Application>
  <PresentationFormat>Widescreen</PresentationFormat>
  <Paragraphs>154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DM Sans</vt:lpstr>
      <vt:lpstr>Instrument Serif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Can-Luca Köymen</cp:lastModifiedBy>
  <cp:revision>2</cp:revision>
  <dcterms:created xsi:type="dcterms:W3CDTF">2013-01-27T09:14:16Z</dcterms:created>
  <dcterms:modified xsi:type="dcterms:W3CDTF">2026-05-14T15:23:06Z</dcterms:modified>
  <cp:category/>
</cp:coreProperties>
</file>