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Should the Fouled Player Take the Penalty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Himself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A ONE-TAILED Z-TEST · TOP 5 EUROPEAN LEAGUES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Three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9903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When a goalkeeper fouls a player who then takes the penalty himself, does conversion drop?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1635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One-tailed two-proportion z-test. Treatment n = 79 (75.95%). Control n = 3,456 (78.96%).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23367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Δ = −3.01 pp (95% CI −13.6 to +5.2): the predicted direction, but p = 0.258: not detectable. Every check agrees (−3.25 pp after controls).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Why we'd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expect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a drop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The just-fouled player walks straight to the spot.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Theory of the taker: physically jarred (body contact, hit the ground, adrenaline). Emotionally agitated, narrowed focus.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2120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Theory of the keeper: locked in. The foul that gave the penalty was his fault. Nothing left to lose. Maximum motivation.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1FF72"/>
                </a:solidFill>
                <a:latin typeface="DM Sans"/>
              </a:rPr>
              <a:t>→ If both pull conversion down, the bench should hand the ball to a designated specialist.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we built the test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4,110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PENALTIES (LOOSE FILTER)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3,535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LINKED PENALTIES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TREATMENT-CELL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LEAGUES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Seasons in scope: 2017-2018 → 2023-2024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03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Competitions: Premier League, La Liga, Serie A, Bundesliga, Ligue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Source: FBref player-match data, consolidated locally as FULL_DICT_ROWS.pkl.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Linked = the team took exactly one penalty in the match, so taker, fouled player and conceder are unambiguous.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One-tailed two-proportion z-test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TREATMENT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GK fouled the taker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Penalties where the goalkeeper conceded the foul AND the fouled player took the penalty himself.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All other penalties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Every other linked penalty: GK conceded but someone else took it, outfielder conceded (any taker), or no foul recorded (e.g. handball).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H₀: conversion_treatment = conversion_control   ·   H₁: conversion_treatment &lt; conversion_control (one-tailed, α = 0.05)   ·   95% Wilson CIs · statsmodels.proportions_ztest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Conversion rate by league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0056"/>
            <a:ext cx="10972800" cy="428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Across the top 5 leagues conversion clusters tightly in the high 70s: league of origin is not a major source of variation. Dots: rate; lines: 95% Wilson intervals.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Conversion across seasons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0056"/>
            <a:ext cx="10972800" cy="428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Season rates run from 72.59% (2017-2018) to 80.79% (2021-2022); the lowest is dropped in a sensitivity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PRIMARY TEST · ONE-TAILED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Treatment vs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766560" cy="4343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80960" y="1463040"/>
            <a:ext cx="393192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0956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TREATMENT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920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C1FF72"/>
                </a:solidFill>
                <a:latin typeface="Instrument Serif"/>
              </a:rPr>
              <a:t>75.95%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514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A68F"/>
                </a:solidFill>
                <a:latin typeface="JetBrains Mono"/>
              </a:rPr>
              <a:t>n = 79  ·  95% CI [65.46%, 84.03%]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9718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C1FF72"/>
                </a:solidFill>
                <a:latin typeface="Instrument Serif"/>
              </a:rPr>
              <a:t>78.96%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8404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A68F"/>
                </a:solidFill>
                <a:latin typeface="JetBrains Mono"/>
              </a:rPr>
              <a:t>n = 3,456  ·  95% CI [77.57%, 80.29%]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4343400"/>
            <a:ext cx="347472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09560" y="44805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FE8"/>
                </a:solidFill>
                <a:latin typeface="JetBrains Mono"/>
              </a:rPr>
              <a:t>Δ = -3.01 pp   z = -0.649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p = 0.2581 (one-tailed)  ·  Fail to reject H₀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Lines: 95% Wilson intervals. Difference 95% CI -13.6 to +5.2 pp; smallest detectable drop ≈ 12.6 pp (80% power).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Does it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hold up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79" y="1463040"/>
            <a:ext cx="106172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Bars: 95% intervals (adjusted row: cluster bootstrap over takers). Shaded: ±5 pp = no practical difference. Every check straddles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BOUNDING THE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Not significant isn't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no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35052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3048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C1FF72"/>
                </a:solidFill>
                <a:latin typeface="Instrument Serif"/>
              </a:rPr>
              <a:t>12.6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304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SMALLEST DROP WE'D RELIABLY 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91840"/>
            <a:ext cx="30480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80% power, one-tailed 5% test. The observed gap (−3.01 pp) sits inside this blind spot.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3880" y="1463040"/>
            <a:ext cx="35052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02480" y="1691640"/>
            <a:ext cx="3048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C1FF72"/>
                </a:solidFill>
                <a:latin typeface="Instrument Serif"/>
              </a:rPr>
              <a:t>11.8 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2480" y="2697480"/>
            <a:ext cx="304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BIGGEST DROP THE DATA CAN'T RULE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480" y="3291840"/>
            <a:ext cx="30480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Equivalence within ±5 pp fails (90% CI −11.8 to +4.0, p = 0.34), and so does ±10 pp (p = 0.07). ±5 pp is more than the established taker's +1.74 pp edge. Margins set after the analysis.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7680" y="1463040"/>
            <a:ext cx="35052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36280" y="1691640"/>
            <a:ext cx="3048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C1FF72"/>
                </a:solidFill>
                <a:latin typeface="Instrument Serif"/>
              </a:rPr>
              <a:t>76.8%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6280" y="2697480"/>
            <a:ext cx="304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CHANCE THE FOULED TAKER CONVERTS LESS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280" y="3291840"/>
            <a:ext cx="30480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Bayesian, flat priors. 37.4% chance the drop exceeds 5 pp; 95% credible interval −13.7 to +5.2 pp.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The data lean towards a drop, can't rule out a large one, and can't rule out none.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Is it the foul, or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taker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ESTABLISHED TAKER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+1.74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Edge of the team's established taker (most penalties for the club before the match) over other takers: 95% CI −1.3 to +4.7. He took 35.4% of treatment kicks vs 30.6% of the rest.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THE TAKER'S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−0.08 reliability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Split-half, 126 takers with 10+ kicks (95% CI −0.47 to 0.18). A taker's hit rate on alternate kicks says nothing useful about the rest: penalty records behave like noise at these sample sizes.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Define the taker from the whole season instead and the edge jumps to +11.37 pp, largely the outcome leaking in: takers who miss lose the job.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2×2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Where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treatment cell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sits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325880" y="1463040"/>
            <a:ext cx="22860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611880" y="1463040"/>
            <a:ext cx="36576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0332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FA68F"/>
                </a:solidFill>
                <a:latin typeface="JetBrains Mono"/>
              </a:rPr>
              <a:t>GOALKEEPER CAUSED THE FOUL</a:t>
            </a:r>
          </a:p>
        </p:txBody>
      </p:sp>
      <p:sp>
        <p:nvSpPr>
          <p:cNvPr id="9" name="Rectangle 8"/>
          <p:cNvSpPr/>
          <p:nvPr/>
        </p:nvSpPr>
        <p:spPr>
          <a:xfrm>
            <a:off x="7269480" y="1463040"/>
            <a:ext cx="36576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6092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FA68F"/>
                </a:solidFill>
                <a:latin typeface="JetBrains Mono"/>
              </a:rPr>
              <a:t>OUTFIELDER CAUSED THE FOUL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2103120"/>
            <a:ext cx="2286000" cy="169164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63039" y="2766059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TAKER = THE PLAYER WHO WAS FOULED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1880" y="2103120"/>
            <a:ext cx="3657600" cy="1691640"/>
          </a:xfrm>
          <a:prstGeom prst="rect">
            <a:avLst/>
          </a:prstGeom>
          <a:solidFill>
            <a:srgbClr val="111A11"/>
          </a:solidFill>
          <a:ln w="2540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657600" y="2148839"/>
            <a:ext cx="3566160" cy="1600200"/>
          </a:xfrm>
          <a:prstGeom prst="rect">
            <a:avLst/>
          </a:prstGeom>
          <a:solidFill>
            <a:srgbClr val="1A2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24027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C1FF72"/>
                </a:solidFill>
                <a:latin typeface="JetBrains Mono"/>
              </a:rPr>
              <a:t>TREATMENT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5146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75.95%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154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79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210312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60920" y="25146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79.02%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154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491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5880" y="3794760"/>
            <a:ext cx="2286000" cy="169164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63039" y="44577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TAKER = NOT THE FOULED PLAYER (INCL. HANDBALLS)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379476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03320" y="4206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78.33%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4846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203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379476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60920" y="4206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79.00%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4846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2,762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Accent-bordered cell = treatment. The other three pool into control.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PER-LEAGUE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same test,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league by league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LEAGUE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4630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T.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46304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T.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C.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463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C.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463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46304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 (1-T)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14630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 (HOLM)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4630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SIG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201168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Serie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0116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80.00%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011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0116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78.57%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011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011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+0.134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20116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0.5532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20116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1.000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20116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46888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La Liga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24688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55.56%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2468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24688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77.37%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2468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468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-2.167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24688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0.0151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59" y="24688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2468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292608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Premier League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2926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91.30%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2926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79.63%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29260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29260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+1.375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29260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0.9154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59" y="2926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1.000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38328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Bundesliga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33832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60.00%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3192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0" y="33832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79.83%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33832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575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3832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-1.539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3832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52559" y="33832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0.247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3383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384048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Ligue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0" y="3840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84.62%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319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0" y="3840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79.71%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3840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840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+0.437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8404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0.6689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52559" y="3840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1.000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41280" y="38404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Cells of 10–23. SIG = after a Holm correction for five tests (smallest adjusted p = 0.076).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Who should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57276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Coaches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TRAINING &amp; TACTICS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96596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8680" y="2112263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60120" y="2171699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870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09728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34440" y="211226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103120"/>
            <a:ext cx="361188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DM Sans"/>
              </a:rPr>
              <a:t>Being the team's established taker adds little: +1.7 pp over other takers (−1.3 to +4.7).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674620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n = 1,085 vs 1,908 penalties · 95% CI includes zero · higher in 4 of 5 leagues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46304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157276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Managers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MATCH-DAY DECISIONS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196596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46520" y="2112263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537960" y="2171699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60654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67512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12280" y="211226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103120"/>
            <a:ext cx="361188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DM Sans"/>
              </a:rPr>
              <a:t>No case yet for taking the ball off a fouled player: −3.0 pp, plausibly anywhere from −13.6 to +5.2.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674620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n = 79 vs 3,456 penalties · p = 0.26 · −3.25 pp after controls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72618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68680" y="383590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Clubs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9090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RECRUITMENT &amp; CONTRACTS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422910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68680" y="4375404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60120" y="4434840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1028700" y="4434840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1097280" y="4434840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234440" y="437540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4366260"/>
            <a:ext cx="361188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DM Sans"/>
              </a:rPr>
              <a:t>Don't pay for a penalty record: how a taker did on half his kicks didn't predict the other half.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937760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126 takers with 10+ kicks · split-half reliability −0.08 · 95% CI −0.47 to 0.18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72618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46520" y="383590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Agents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39090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POSITIONING A PLAYER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422910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446520" y="43662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735A"/>
                </a:solidFill>
                <a:latin typeface="DM Sans"/>
              </a:rPr>
              <a:t>No defensible claim for this audience from this study.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97103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EVIDENCE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7360" y="5943600"/>
            <a:ext cx="1188720" cy="219456"/>
          </a:xfrm>
          <a:prstGeom prst="rect">
            <a:avLst/>
          </a:prstGeom>
          <a:solidFill>
            <a:srgbClr val="C1FF72"/>
          </a:solidFill>
          <a:ln w="9525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82880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89738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96596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1031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080C08"/>
                </a:solidFill>
                <a:latin typeface="JetBrains Mono"/>
              </a:rPr>
              <a:t>STRONG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08960" y="5943600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3200400" y="6003036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3268980" y="6003036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333756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4747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80560" y="5943600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4572000" y="6003036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464058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470916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48463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5971032"/>
            <a:ext cx="5760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Definitions: methodology § Evidence labels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can't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tell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6184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Small treatment group: 79 penalties: a real drop below ~12.6 pp would usually go unseen.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328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Taking it is a choice: status, record and experience are controlled; nerve and knocks on the day are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472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"Fouled" is not "hurt": the data record who won the penalty, not whether he was injured.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616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 minute, scoreline or goalkeeper in the model: the player-match table has neither.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2760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51560" y="51663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575 of 4,110 penalties can't be linked (mostly a team taking 2+ in a match).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the data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bench answer: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can't yet tell.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Conversion is 3.01 pp lower when the fouled player takes the kick himself (75.95% vs 78.96% for everyone else). The point estimate moves in the predicted direction, but the treatment cell is too small to rule chance out (p = 0.258, one-tailed). Every check lands in the same place (−3.25 pp after controls). With 79 such penalties the design only reliably detects a drop of about 12.6 pp, and the data can't rule out one as large as 11.8 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1FF72"/>
                </a:solidFill>
                <a:latin typeface="DM Sans"/>
              </a:rPr>
              <a:t>→ No statistical warrant to override the fouled player who wants to take it himself. Equally, no clean evidence he's at full strength.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Full methodology, source code and data: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/PROJECTS/01-PENALTY-ANALYSIS/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      formal H₀ / H₁, test assumptions,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3400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analysis.html    interactive dashboard, live numbers from data.json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3024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code/build.py    Python pipeline: raw pickles → aggregated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