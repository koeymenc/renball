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RESEARCH ·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>
                <a:solidFill>
                  <a:srgbClr val="E8EFE8"/>
                </a:solidFill>
                <a:latin typeface="Instrument Serif"/>
              </a:rPr>
              <a:t>Should the Fouled Player Take the Penalty </a:t>
            </a:r>
            <a:r>
              <a:rPr sz="5400" b="0" i="1">
                <a:solidFill>
                  <a:srgbClr val="C1FF72"/>
                </a:solidFill>
                <a:latin typeface="Instrument Serif"/>
              </a:rPr>
              <a:t>Himself</a:t>
            </a:r>
            <a:r>
              <a:rPr sz="5400" b="0" i="0">
                <a:solidFill>
                  <a:srgbClr val="E8EFE8"/>
                </a:solidFill>
                <a:latin typeface="Instrument Serif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A ONE-TAILED Z-TEST · TOP 5 EUROPEAN LEAGUES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2026-05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6235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TL;DR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Three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sentences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399032"/>
            <a:ext cx="8503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8EFE8"/>
                </a:solidFill>
                <a:latin typeface="Instrument Serif"/>
              </a:rPr>
              <a:t>When a goalkeeper fouls a player who then takes the penalty himself, does conversion drop?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16352"/>
            <a:ext cx="8503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8EFE8"/>
                </a:solidFill>
                <a:latin typeface="Instrument Serif"/>
              </a:rPr>
              <a:t>One-tailed two-proportion z-test. Treatment n = 100 (75.0%). Control n = 3,757 (78.25%).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233672"/>
            <a:ext cx="8503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8EFE8"/>
                </a:solidFill>
                <a:latin typeface="Instrument Serif"/>
              </a:rPr>
              <a:t>Δ = -3.25 pp (predicted direction) but p = 0.218, one-tailed — fail to reject H₀ at the available power.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Why we'd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expect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a drop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1">
                <a:solidFill>
                  <a:srgbClr val="E8EFE8"/>
                </a:solidFill>
                <a:latin typeface="Instrument Serif"/>
              </a:rPr>
              <a:t>The just-fouled player walks straight to the spot.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Theory of the taker: physically jarred — body contact, hit the ground, adrenaline. Emotionally agitated, narrowed focus.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77440"/>
            <a:ext cx="52120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Theory of the keeper: locked in. The foul that gave the penalty was his fault. Nothing left to lose. Maximum motivation.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C1FF72"/>
                </a:solidFill>
                <a:latin typeface="DM Sans"/>
              </a:rPr>
              <a:t>→ If both pull conversion down, the bench should hand the ball to a designated specialist.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we built the test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4,110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PENALTIES (LOOSE FILTER)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66160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3,322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SINGLE-PENALTY MATCHES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TREATMENT-CELL 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52559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59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LEAGUES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46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Seasons in scope: 2017-2018 → 2023-2024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03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Competitions: Premier League, La Liga, Serie A, Bundesliga, Ligue 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Source: FBref player-match data, consolidated locally as FULL_DICT_ROWS.pkl.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Strict filter = matches with at most one penalty event (unambiguous GK-caused / taker-was-fouled attribution).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One-tailed two-proportion z-test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372100" cy="4343400"/>
          </a:xfrm>
          <a:prstGeom prst="rect">
            <a:avLst/>
          </a:prstGeom>
          <a:solidFill>
            <a:srgbClr val="111A11"/>
          </a:solidFill>
          <a:ln w="1905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4914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TREATMENT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9149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GK fouled the taker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491490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Matches where the goalkeeper conceded the foul AND the fouled player is the same player who took the penalty.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0780" y="1463040"/>
            <a:ext cx="5372100" cy="4343400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69380" y="1645920"/>
            <a:ext cx="4914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9380" y="1965960"/>
            <a:ext cx="49149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All other penalties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2834640"/>
            <a:ext cx="491490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Every other strict-filter match — GK fouled but a different player took, or outfielder caused the foul (any taker).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H₀: conversion_treatment = conversion_control   ·   H₁: conversion_treatment &lt; conversion_control (one-tailed, α = 0.05)   ·   95% Wilson CIs · statsmodels.proportions_ztest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Conversion rate by league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0056"/>
            <a:ext cx="10972800" cy="42893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Across the top 5 leagues conversion clusters tightly in the high 70s — league of origin is not a major source of variation.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Conversion across seasons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0056"/>
            <a:ext cx="10972800" cy="42893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Year-on-year stability is high — the ~77–80% band holds across the period in scope.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PRIMARY TEST · ONE-TAILED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Treatment vs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6766560" cy="4343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680960" y="1463040"/>
            <a:ext cx="3931920" cy="4343400"/>
          </a:xfrm>
          <a:prstGeom prst="rect">
            <a:avLst/>
          </a:prstGeom>
          <a:solidFill>
            <a:srgbClr val="111A11"/>
          </a:solidFill>
          <a:ln w="1905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09560" y="1645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TREATMENT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192024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C1FF72"/>
                </a:solidFill>
                <a:latin typeface="Instrument Serif"/>
              </a:rPr>
              <a:t>75.00%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5146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FA68F"/>
                </a:solidFill>
                <a:latin typeface="JetBrains Mono"/>
              </a:rPr>
              <a:t>n = 100  ·  95% CI [65.70%, 82.45%]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29718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C1FF72"/>
                </a:solidFill>
                <a:latin typeface="Instrument Serif"/>
              </a:rPr>
              <a:t>78.25%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38404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FA68F"/>
                </a:solidFill>
                <a:latin typeface="JetBrains Mono"/>
              </a:rPr>
              <a:t>n = 3,757  ·  95% CI [76.91%, 79.54%]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60" y="4343400"/>
            <a:ext cx="3474720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909560" y="448056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FE8"/>
                </a:solidFill>
                <a:latin typeface="JetBrains Mono"/>
              </a:rPr>
              <a:t>Δ = -3.25 pp   z = -0.777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8920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p = 0.2185 (one-tailed)  ·  Fail to reject H₀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Whiskers: 95% Wilson confidence intervals. Treatment CI is wide — n is the binding constraint.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2×2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Where the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treatment cell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sits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325880" y="1463040"/>
            <a:ext cx="2286000" cy="64008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611880" y="1463040"/>
            <a:ext cx="3657600" cy="64008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703320" y="1645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FA68F"/>
                </a:solidFill>
                <a:latin typeface="JetBrains Mono"/>
              </a:rPr>
              <a:t>GOALKEEPER CAUSED THE FOUL</a:t>
            </a:r>
          </a:p>
        </p:txBody>
      </p:sp>
      <p:sp>
        <p:nvSpPr>
          <p:cNvPr id="9" name="Rectangle 8"/>
          <p:cNvSpPr/>
          <p:nvPr/>
        </p:nvSpPr>
        <p:spPr>
          <a:xfrm>
            <a:off x="7269480" y="1463040"/>
            <a:ext cx="3657600" cy="64008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60920" y="1645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FA68F"/>
                </a:solidFill>
                <a:latin typeface="JetBrains Mono"/>
              </a:rPr>
              <a:t>OUTFIELDER CAUSED THE FOUL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25880" y="2103120"/>
            <a:ext cx="2286000" cy="169164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463039" y="2766059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TAKER = THE PLAYER WHO WAS FOULED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11880" y="2103120"/>
            <a:ext cx="3657600" cy="1691640"/>
          </a:xfrm>
          <a:prstGeom prst="rect">
            <a:avLst/>
          </a:prstGeom>
          <a:solidFill>
            <a:srgbClr val="111A11"/>
          </a:solidFill>
          <a:ln w="2540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657600" y="2148839"/>
            <a:ext cx="3566160" cy="1600200"/>
          </a:xfrm>
          <a:prstGeom prst="rect">
            <a:avLst/>
          </a:prstGeom>
          <a:solidFill>
            <a:srgbClr val="1A2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49040" y="224027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C1FF72"/>
                </a:solidFill>
                <a:latin typeface="JetBrains Mono"/>
              </a:rPr>
              <a:t>TREATMENT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251460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C1FF72"/>
                </a:solidFill>
                <a:latin typeface="Instrument Serif"/>
              </a:rPr>
              <a:t>75.00%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154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735A"/>
                </a:solidFill>
                <a:latin typeface="JetBrains Mono"/>
              </a:rPr>
              <a:t>N = 100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9480" y="2103120"/>
            <a:ext cx="3657600" cy="16916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60920" y="251460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C1FF72"/>
                </a:solidFill>
                <a:latin typeface="Instrument Serif"/>
              </a:rPr>
              <a:t>78.87%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3154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735A"/>
                </a:solidFill>
                <a:latin typeface="JetBrains Mono"/>
              </a:rPr>
              <a:t>N = 549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25880" y="3794760"/>
            <a:ext cx="2286000" cy="169164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463039" y="44577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TAKER = A DIFFERENT PLAYER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11880" y="3794760"/>
            <a:ext cx="3657600" cy="16916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703320" y="420624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C1FF72"/>
                </a:solidFill>
                <a:latin typeface="Instrument Serif"/>
              </a:rPr>
              <a:t>78.11%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4846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735A"/>
                </a:solidFill>
                <a:latin typeface="JetBrains Mono"/>
              </a:rPr>
              <a:t>N = 265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9480" y="3794760"/>
            <a:ext cx="3657600" cy="16916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360920" y="420624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C1FF72"/>
                </a:solidFill>
                <a:latin typeface="Instrument Serif"/>
              </a:rPr>
              <a:t>78.15%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4846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735A"/>
                </a:solidFill>
                <a:latin typeface="JetBrains Mono"/>
              </a:rPr>
              <a:t>N = 2,943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Accent-bordered cell = treatment. The other three pool into control.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PER-LEAGUE REPLICATION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same test,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league by league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607040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LEAGUE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46304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T.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79" y="14630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T. 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9" y="146304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C.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46304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C.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19" y="146304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799" y="146304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P (1-T)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59" y="146304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SIG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874520"/>
            <a:ext cx="10607040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0080" y="20116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Serie 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20116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80.95%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79" y="20116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79" y="20116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77.70%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0116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888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20116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+0.354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799" y="20116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0.6383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59" y="20116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735A"/>
                </a:solidFill>
                <a:latin typeface="JetBrains Mono"/>
              </a:rPr>
              <a:t>No · low 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4688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La Liga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24688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57.89%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79" y="2468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79" y="24688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77.46%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4688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803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19" y="24688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-2.003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799" y="24688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0.0226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59" y="24688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C1FF72"/>
                </a:solidFill>
                <a:latin typeface="JetBrains Mono"/>
              </a:rPr>
              <a:t>Yes · low 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9260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Premier League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29260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88.00%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79" y="2926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79" y="29260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78.59%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29260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626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19" y="29260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+1.131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799" y="29260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0.8710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59" y="29260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735A"/>
                </a:solidFill>
                <a:latin typeface="JetBrains Mono"/>
              </a:rPr>
              <a:t>No · low 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3832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Bundesliga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17520" y="33832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61.54%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79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12079" y="33832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78.18%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33832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614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19" y="33832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-1.429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799" y="33832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0.0765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6959" y="33832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735A"/>
                </a:solidFill>
                <a:latin typeface="JetBrains Mono"/>
              </a:rPr>
              <a:t>No · low 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8404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Ligue 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17520" y="38404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77.27%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97679" y="38404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9" y="38404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79.42%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92240" y="38404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826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89519" y="38404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-0.245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799" y="38404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0.4030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6959" y="38404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735A"/>
                </a:solidFill>
                <a:latin typeface="JetBrains Mono"/>
              </a:rPr>
              <a:t>No · low 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Per-league treatment cells of 13–25 leave each test severely underpowered — pooled is the only inference to take seriously.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the data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bench answer: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can't yet tell.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Conversion is 3.25 pp lower when the fouled player takes the kick himself (75.00% vs 78.25% for everyone else). The point estimate moves in the predicted direction, but the treatment cell is too small to rule chance out (p = 0.218, one-tailed).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C1FF72"/>
                </a:solidFill>
                <a:latin typeface="DM Sans"/>
              </a:rPr>
              <a:t>→ No statistical warrant to override the fouled player who wants to take it himself. Equally, no clean evidence he's at full strength.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E8EFE8"/>
                </a:solidFill>
                <a:latin typeface="Instrument Serif"/>
              </a:rPr>
              <a:t>Full methodology, source code and data: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Full methodology, source code and data: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0" i="0">
                <a:solidFill>
                  <a:srgbClr val="C1FF72"/>
                </a:solidFill>
                <a:latin typeface="Instrument Serif"/>
              </a:rPr>
              <a:t>renball.com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/PROJECTS/01-PENALTY-ANALYSIS/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10972800" cy="396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methodology      formal H₀ / H₁, test assumptions,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34000"/>
            <a:ext cx="10972800" cy="396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analysis.html    interactive dashboard, live numbers from data.json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30240"/>
            <a:ext cx="10972800" cy="396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code/build.py    Python pipeline — raw pickles → aggregated 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