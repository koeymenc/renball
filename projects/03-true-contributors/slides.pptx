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RESEARCH ·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E8EFE8"/>
                </a:solidFill>
                <a:latin typeface="Instrument Serif"/>
              </a:rPr>
              <a:t>The True </a:t>
            </a:r>
            <a:r>
              <a:rPr sz="5400" b="0" i="1">
                <a:solidFill>
                  <a:srgbClr val="C1FF72"/>
                </a:solidFill>
                <a:latin typeface="Instrument Serif"/>
              </a:rPr>
              <a:t>Contributors</a:t>
            </a:r>
            <a:r>
              <a:rPr sz="5400" b="0" i="0">
                <a:solidFill>
                  <a:srgbClr val="E8EFE8"/>
                </a:solidFill>
                <a:latin typeface="Instrument Serif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WHO ACTUALLY MOVES THE TABLE? · EXPECTED POINTS PER 90 WITH HONEST RANKS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623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Three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99032"/>
            <a:ext cx="8503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Lionel Messi (0.81 EP per 90) and Kylian Mbappé (0.77) are the only players sure of a top-10 place. Number 3 could rank anywhere from 1 to 34.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WHAT REPEATS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62072"/>
            <a:ext cx="8503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EP per 90 carries over from season to season (r = 0.69); how decisive a player's goals are barely does (r = 0.17).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REALITY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325112"/>
            <a:ext cx="8503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The model names the actual award winner in 12 of 33 league-seasons (chance: 0.1); a goals + assists count names 17.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Price the goal, then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share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E8EFE8"/>
                </a:solidFill>
                <a:latin typeface="Instrument Serif"/>
              </a:rPr>
              <a:t>Goals win points, but not the same number of points, and a goal is rarely one player's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price comes from Project 02: the expected final points just after a goal minus just before, from every minute of 13,206 matches. A go-ahead goal from level is worth 0.733 EP in the first 15 minutes and 1.507 in the last 15.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60320"/>
            <a:ext cx="52120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credit goes to the scorer, SCA1 (the action before the shot) and SCA2 (the action before that), each at the goal's full value, once per player per goal: 8,694 role credits merge into 84,148 credits.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Five leagues, seven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seasons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C1FF72"/>
                </a:solidFill>
                <a:latin typeface="Instrument Serif"/>
              </a:rPr>
              <a:t>34,054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GOALS PRICED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661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C1FF72"/>
                </a:solidFill>
                <a:latin typeface="Instrument Serif"/>
              </a:rPr>
              <a:t>12,599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MATCHES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C1FF72"/>
                </a:solidFill>
                <a:latin typeface="Instrument Serif"/>
              </a:rPr>
              <a:t>4,167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PLAYERS · 900+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525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C1FF72"/>
                </a:solidFill>
                <a:latin typeface="Instrument Serif"/>
              </a:rPr>
              <a:t>78.3%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GOALS WITH SCA2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FBref match pages, 2017-18 to 2023-24: Premier League, La Liga, Serie A, Bundesliga, Ligue 1. Shot tables, official scores, every player's minutes, position and age per match.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86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The data end in 2023-24: the SCA2 data end there because the source discontinued them.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262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Players told apart by birth date (45 shared names); minutes from the same matches as the goals.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Shrink the noise, then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rank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721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ADJUSTED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Pulled toward the position average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EP per 90 is noisy over few minutes. Each rate is pulled toward its position's average, more when minutes are few: a forward with 1,000 minutes 79%, with 10,000 minutes 28%.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780" y="1463040"/>
            <a:ext cx="53721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693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PLAUSIBLE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93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A range, not a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Every player's adjusted rate is drawn 4,000 times with its uncertainty and ranked each time. The plausible rank is where he lands 95% of the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Empirical Bayes by position (DerSimonian–Laird priors) · measured ranges from Project 02's 1,000 match-bootstrap resamples · fixed seed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Two players are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sure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. The rest is a shortlist.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79" y="1463040"/>
            <a:ext cx="106172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4,167 players with 900+ minutes. Green: top-10 chance of 95% or more. Whisker: 95% interval of the adjusted 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top 10, with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plausible ranks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80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4310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2594" y="1463040"/>
            <a:ext cx="21727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6822" y="1463040"/>
            <a:ext cx="16502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8537" y="1463040"/>
            <a:ext cx="10406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651" y="1463040"/>
            <a:ext cx="1127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MEASURED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9851" y="1463040"/>
            <a:ext cx="1127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ADJUSTED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9051" y="1463040"/>
            <a:ext cx="138901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PLAUSIBLE RANK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19508" y="1463040"/>
            <a:ext cx="13019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TOP-10 CHANCE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874520"/>
            <a:ext cx="1097280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1920240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2594" y="1920240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Lionel Messi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6822" y="1920240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Barcelona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8537" y="1920240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16,516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651" y="1920240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9851" y="1920240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9051" y="1920240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1–4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19508" y="1920240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308860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2594" y="2308860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Kylian Mbappé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6822" y="2308860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Paris S-G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8537" y="2308860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16,403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651" y="2308860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9851" y="2308860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9051" y="2308860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1–7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19508" y="2308860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69747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2594" y="269747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Neymar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6822" y="269747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Paris S-G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8537" y="269747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9,354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651" y="269747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9851" y="269747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39051" y="269747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1–34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19508" y="269747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08609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2594" y="308609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Erling Haaland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26822" y="308609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Dortmund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8537" y="308609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10,702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0651" y="308609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0.798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19851" y="308609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39051" y="308609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2–31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19508" y="308609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47471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2594" y="347471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Robert Lewandowski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26822" y="347471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Bayern Munich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68537" y="347471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18,888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0651" y="347471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19851" y="347471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39051" y="347471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2–33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19508" y="347471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67%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386333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2594" y="386333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Josip Iličić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26822" y="386333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Atalanta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8537" y="386333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8,176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651" y="386333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19851" y="386333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0.675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39051" y="386333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2–57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19508" y="386333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425195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594" y="425195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Cristiano Ronaldo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26822" y="425195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Juventus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68537" y="425195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13,704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0651" y="425195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19851" y="425195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0.673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39051" y="425195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2–41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19508" y="425195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464057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62594" y="464057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Paulo Dybala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26822" y="464057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Juventus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68537" y="464057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13,538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651" y="464057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0.744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19851" y="464057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0.669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9051" y="464057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3–45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19508" y="464057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56%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502919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62594" y="502919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Mohamed Salah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26822" y="502919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Liverpool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68537" y="502919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20,697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00651" y="502919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0.705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19851" y="502919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739051" y="502919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3–42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19508" y="502919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45%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40080" y="541781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62594" y="541781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Harry Kane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26822" y="541781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Tottenham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68537" y="541781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20,645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651" y="541781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19851" y="541781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0.656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739051" y="541781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3–43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219508" y="541781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44%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EP per 90 measured and adjusted toward the position average. Plausible rank: 95% of 4,000 joint draws. Top-10 chance: share of draws in the top 10.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SHRINKAGE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raw top 10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misleads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" y="1463040"/>
            <a:ext cx="108585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5 of the raw top 10 leave the adjusted top 10 (grey): all short careers. Cole Palmer's 0.841 over 3,111 minutes is pulled to 0.600.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credit rule barely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799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8659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RULE VS FULL CREDIT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7483" y="1463040"/>
            <a:ext cx="188726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TOP-10 OVERLAP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6184" y="1463040"/>
            <a:ext cx="224702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RANK CORRELATION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4650" y="1463040"/>
            <a:ext cx="260678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LEADER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874520"/>
            <a:ext cx="10972799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865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Every role a credit (old rule)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483" y="1920240"/>
            <a:ext cx="188726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6184" y="1920240"/>
            <a:ext cx="22470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0.998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4650" y="1920240"/>
            <a:ext cx="260678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Lionel Messi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423160"/>
            <a:ext cx="3865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40/35/25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483" y="2423160"/>
            <a:ext cx="188726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6184" y="2423160"/>
            <a:ext cx="22470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0.994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4650" y="2423160"/>
            <a:ext cx="260678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Lionel Messi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The split favours finishers: Mauro Icardi 39 → 17, Kevin De Bruyne 16 → 43.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SKILL OR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Volume repeats. Decisiveness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doesn't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39932"/>
            <a:ext cx="10972800" cy="4189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Consecutive seasons, top 5 leagues. EP per 90: r = 0.69 (5,665 pairs); EP per involvement: 0.17. Lines: 95% intervals.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REALITY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model's pick vs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award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80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6387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LEAGUE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0231" y="1463040"/>
            <a:ext cx="1228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2017-18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0609" y="1463040"/>
            <a:ext cx="1228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2018-19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0987" y="1463040"/>
            <a:ext cx="1228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2019-20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1366" y="1463040"/>
            <a:ext cx="1228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2020-21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1744" y="1463040"/>
            <a:ext cx="1228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2021-22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2123" y="1463040"/>
            <a:ext cx="1228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2022-23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92501" y="1463040"/>
            <a:ext cx="1228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2023-24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874520"/>
            <a:ext cx="1097280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1920240"/>
            <a:ext cx="163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Premier League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31" y="192024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Salah · won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0609" y="192024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Agüero · #174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87" y="192024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Mané · 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1366" y="192024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Fernandes · #56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1744" y="192024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Salah · won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2123" y="192024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Haaland · won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92501" y="192024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Palmer · #10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423160"/>
            <a:ext cx="163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La Liga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0231" y="242316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Messi · won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0609" y="242316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Messi · won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0987" y="242316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Messi · #2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1366" y="242316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Messi · 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51744" y="242316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Benzema · won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2123" y="242316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Griezmann · GK winner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2501" y="242316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Sørloth · #3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926080"/>
            <a:ext cx="163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Serie 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0231" y="292608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Dybala · #7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90609" y="292608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Mertens · #4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10987" y="292608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Ronaldo · #3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1366" y="292608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Muriel · #2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51744" y="292608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Immobile · #5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2123" y="292608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Osimhen · #2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92501" y="292608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Dybala · #8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429000"/>
            <a:ext cx="163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Bundesliga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0231" y="342900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Lewandowski · won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90609" y="342900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Sancho · #4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10987" y="342900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Sancho · #2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1366" y="342900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Lewandowski · won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51744" y="342900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Schick · #4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72123" y="342900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Nkunku · #70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92501" y="342900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Guirassy · #7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931920"/>
            <a:ext cx="163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Ligue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0231" y="393192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Fekir · #2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90609" y="393192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Mbappé · won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10987" y="393192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Neymar · no award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31366" y="393192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Mbappé · won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51744" y="393192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Mbappé · won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72123" y="393192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Messi · #3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92501" y="393192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Mbappé · won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Pick (surname) · won: the pick won the award · #: the actual winner's rank on the model's list. 12 of 33 named; top 3 in 20; chance 0.1; goals + assists leader 17.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SCA2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hidden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architects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" y="1463040"/>
            <a:ext cx="108585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Julian Brandt is second with 40.98 EP from SCA2 alone, but his plausible rank runs from 1 to 26. Roles counted separately; whiskers: 95%.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EP PER INVOLVEMENT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Decisive goals describe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" y="1463040"/>
            <a:ext cx="108585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Average credit 0.687 EP. 26 players clearly above, 53 below (chance: ~11 each). The lowest all played for Barcelona, Bayern Munich, Manchester City or Paris S-G.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Best by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60704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4630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FORWARD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4630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ADJ.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630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MIDFIELDER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4630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ADJ.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4630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DEFENDER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4630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ADJ.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1874520"/>
            <a:ext cx="1060704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" y="19202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19202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Lionel Messi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19202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9202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Kevin De Bruyne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19202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19202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Raphaël Guerreiro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202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0.389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423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Kylian Mbappé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4231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0.773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Andrej Kramarić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24231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Achraf Hakimi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24231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0.351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29260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2926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Neymar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29260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2926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Thomas Müller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9260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0.571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2926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Yannick Carrasco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29260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0.348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42900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4290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Erling Haaland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3429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34290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Marco Reus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29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34290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Filip Kostić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429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0.345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931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" y="39319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Robert Lewandowski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39319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39319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Bruno Fernandes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0" y="39319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39319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Álex Grimaldo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39319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Each pulled toward its own position's average (forwards 0.402, midfielders 0.221, defenders 0.114). Goalkeepers left out: best 0.012.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23 OR UNDER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Young players to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watch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799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510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531" y="1463040"/>
            <a:ext cx="238628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0260" y="1463040"/>
            <a:ext cx="167836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0067" y="1463040"/>
            <a:ext cx="7049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11474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5344" y="1463040"/>
            <a:ext cx="123591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2699" y="1463040"/>
            <a:ext cx="123591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ADJUSTED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20054" y="1463040"/>
            <a:ext cx="150138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OVERALL RANK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874520"/>
            <a:ext cx="10972799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1920240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531" y="1920240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Erling Haaland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0260" y="1920240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Dortmund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067" y="1920240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920240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10,702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5344" y="1920240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92699" y="1920240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054" y="1920240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406015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531" y="2406015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Cole Palmer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0260" y="2406015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Chelsea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0067" y="2406015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406015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3,111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5344" y="240601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92699" y="240601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20054" y="2406015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91790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2531" y="2891790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Jamal Musiala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0260" y="2891790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Bayern Munich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0067" y="2891790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2891790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6,302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5344" y="2891790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92699" y="2891790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20054" y="2891790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377565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2531" y="3377565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Bukayo Saka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0260" y="3377565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Arsenal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0067" y="3377565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3377565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13,392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65344" y="337756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92699" y="337756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0.522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20054" y="3377565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863339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2531" y="3863339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Vinicius Júnior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0260" y="3863339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Real Madrid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0067" y="3863339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3863339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11,579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65344" y="3863339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92699" y="3863339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20054" y="3863339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4349115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2531" y="4349115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Victor Boniface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60260" y="4349115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Leverkusen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30067" y="4349115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349115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1,546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65344" y="434911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92699" y="434911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0.518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20054" y="4349115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4834890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2531" y="4834890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Khvicha Kvaratskhelia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60260" y="4834890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Napoli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30067" y="4834890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26480" y="4834890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5,255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65344" y="4834890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0.587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92699" y="4834890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20054" y="4834890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5320665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2531" y="5320665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Lucas Beltrán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60260" y="5320665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Fiorentina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30067" y="5320665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26480" y="5320665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1,692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65344" y="532066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92699" y="532066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0.497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020054" y="5320665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93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Aged 23 or under on 30 June 2024 (end of the data), 900+ minutes: 505 players. Short careers are pulled hardest.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Who should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57276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Coaches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TRAINING &amp; TACTICS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96596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21031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735A"/>
                </a:solidFill>
                <a:latin typeface="DM Sans"/>
              </a:rPr>
              <a:t>No defensible claim for this audience from this study.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46520" y="157276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Managers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MATCH-DAY DECISIONS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96596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21031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735A"/>
                </a:solidFill>
                <a:latin typeface="DM Sans"/>
              </a:rPr>
              <a:t>No defensible claim for this audience from this study.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2618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383590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Clubs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9090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RECRUITMENT &amp; CONTRACTS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22910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68680" y="4375404"/>
            <a:ext cx="1188720" cy="219456"/>
          </a:xfrm>
          <a:prstGeom prst="rect">
            <a:avLst/>
          </a:prstGeom>
          <a:solidFill>
            <a:srgbClr val="C1FF72"/>
          </a:solidFill>
          <a:ln w="9525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60120" y="4434840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028700" y="4434840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097280" y="4434840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234440" y="437540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080C08"/>
                </a:solidFill>
                <a:latin typeface="JetBrains Mono"/>
              </a:rPr>
              <a:t>STRONG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366260"/>
            <a:ext cx="361188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A68F"/>
                </a:solidFill>
                <a:latin typeface="DM Sans"/>
              </a:rPr>
              <a:t>Rank adjusted rates, not raw per-90s: 5 of the raw top 10 are short careers that drop out.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699635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4,167 players · empirical Bayes by position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5019675"/>
            <a:ext cx="1188720" cy="219456"/>
          </a:xfrm>
          <a:prstGeom prst="rect">
            <a:avLst/>
          </a:prstGeom>
          <a:solidFill>
            <a:srgbClr val="C1FF72"/>
          </a:solidFill>
          <a:ln w="9525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960120" y="5079111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1028700" y="5079111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097280" y="5079111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234440" y="5019675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080C08"/>
                </a:solidFill>
                <a:latin typeface="JetBrains Mono"/>
              </a:rPr>
              <a:t>STRONG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010531"/>
            <a:ext cx="361188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A68F"/>
                </a:solidFill>
                <a:latin typeface="DM Sans"/>
              </a:rPr>
              <a:t>EP per 90 repeats (r = 0.69); decisive-looking goals barely do (r = 0.17). Pay for involvement.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94560" y="5343906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95% CI 0.67–0.71 and 0.11–0.23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372618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46520" y="383590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Agents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39090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POSITIONING A PLAYER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422910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446520" y="4375404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8FBF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537960" y="4434840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6606540" y="4434840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675120" y="4434840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812280" y="437540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1FF72"/>
                </a:solidFill>
                <a:latin typeface="JetBrains Mono"/>
              </a:rPr>
              <a:t>MODERATE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4366260"/>
            <a:ext cx="3611880" cy="500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A68F"/>
                </a:solidFill>
                <a:latin typeface="DM Sans"/>
              </a:rPr>
              <a:t>A pre-assist habit is partly real: the SCA2 share repeats (r = 0.38). A fair line in a playmaker's case.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866322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352 season pairs · 95% CI 0.27–0.48 · SCA2 on 78% of goals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5186362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37960" y="5245798"/>
            <a:ext cx="45720" cy="100584"/>
          </a:xfrm>
          <a:prstGeom prst="rect">
            <a:avLst/>
          </a:prstGeom>
          <a:solidFill>
            <a:srgbClr val="5A7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6606540" y="5245798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6675120" y="5245798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812280" y="518636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EXPLORATORY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5177218"/>
            <a:ext cx="361188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A68F"/>
                </a:solidFill>
                <a:latin typeface="DM Sans"/>
              </a:rPr>
              <a:t>Awards follow box scores: the goals + assists leader matched 17 of 33 winners, the EP model 12.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5510593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five different awards · a count, not a test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97103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EVIDENCE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37360" y="5943600"/>
            <a:ext cx="1188720" cy="219456"/>
          </a:xfrm>
          <a:prstGeom prst="rect">
            <a:avLst/>
          </a:prstGeom>
          <a:solidFill>
            <a:srgbClr val="C1FF72"/>
          </a:solidFill>
          <a:ln w="9525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182880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189738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196596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21031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080C08"/>
                </a:solidFill>
                <a:latin typeface="JetBrains Mono"/>
              </a:rPr>
              <a:t>STRONG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08960" y="5943600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8FBF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3200400" y="6003036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3268980" y="6003036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333756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34747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1FF72"/>
                </a:solidFill>
                <a:latin typeface="JetBrains Mono"/>
              </a:rPr>
              <a:t>MODERATE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80560" y="5943600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4572000" y="6003036"/>
            <a:ext cx="45720" cy="100584"/>
          </a:xfrm>
          <a:prstGeom prst="rect">
            <a:avLst/>
          </a:prstGeom>
          <a:solidFill>
            <a:srgbClr val="5A7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464058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470916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463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EXPLORATORY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43600" y="5971032"/>
            <a:ext cx="5760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Definitions: methodology § Evidence labels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can't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tell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16184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Prices, not causes: a goal's value says how much it mattered, not how hard it was.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328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Three roles only: defending, pressing and off-ball runs earn nothing; keepers and defenders are undervalued.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4472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No team or league adjustment: players at high-scoring clubs get more involvements.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616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SCA2 missing for 21.7% of goals; the data end in 2023-24 (source discontinued).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2760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51560" y="51663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A normal prior pulls true outliers in too hard; plausible ranks ignore shared price uncertainty.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Two certainties.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Then a shortlist.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Lionel Messi and Kylian Mbappé are clear of everyone at 0.81 and 0.77 EP per 90. Below them, ranks are ranges. Short careers inflate raw per-90s, the volume of a player's involvement repeats while the decisiveness of his goals does not, and award voters follow the box score. For a club, the useful number is the adjusted rate with its plausible rank.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E8EFE8"/>
                </a:solidFill>
                <a:latin typeface="Instrument Serif"/>
              </a:rPr>
              <a:t>Thanks for reading.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Full methodology, source code and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C1FF72"/>
                </a:solidFill>
                <a:latin typeface="Instrument Serif"/>
              </a:rPr>
              <a:t>renball.com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/PROJECTS/03-TRUE-CONTRIBUTORS/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methodology      the shrinkage, the rank intervals, the award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3400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dashboard        every player and player-season, with intervals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3024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code/            players.py · shrink.py · build.py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